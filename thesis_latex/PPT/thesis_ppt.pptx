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6" Type="http://schemas.openxmlformats.org/officeDocument/2006/relationships/viewProps" Target="viewProps.xml" /><Relationship Id="rId9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8" Type="http://schemas.openxmlformats.org/officeDocument/2006/relationships/tableStyles" Target="tableStyles.xml" /><Relationship Id="rId9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反应堆中微子振荡分析中的高性能拟合算法与统计方法研究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——基于 JUNO 实验的低统计量精密测量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答辩人：薛靖钦</a:t>
            </a:r>
          </a:p>
          <a:p>
            <a:pPr lvl="0"/>
            <a:r>
              <a:rPr/>
              <a:t>导 师：[导师姓名]</a:t>
            </a:r>
          </a:p>
          <a:p>
            <a:pPr lvl="0"/>
            <a:r>
              <a:rPr/>
              <a:t>培养单位：中国科学院大学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报告大纲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第一章：引言 — 研究背景与科学问题</a:t>
            </a:r>
          </a:p>
          <a:p>
            <a:pPr lvl="0"/>
            <a:r>
              <a:rPr/>
              <a:t>第二章：中微子振荡分析方法</a:t>
            </a:r>
          </a:p>
          <a:p>
            <a:pPr lvl="0"/>
            <a:r>
              <a:rPr/>
              <a:t>第三章：反应堆中微子能谱拟合程序的加速</a:t>
            </a:r>
          </a:p>
          <a:p>
            <a:pPr lvl="0"/>
            <a:r>
              <a:rPr/>
              <a:t>第四章：JUNO 实验能谱分 bin 策略</a:t>
            </a:r>
          </a:p>
          <a:p>
            <a:pPr lvl="0"/>
            <a:r>
              <a:rPr/>
              <a:t>第五章：Feldman–Cousins 方法详述</a:t>
            </a:r>
          </a:p>
          <a:p>
            <a:pPr lvl="0"/>
            <a:r>
              <a:rPr/>
              <a:t>第六章：总结与展望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中微子的发现历程（一）：从假说到首次直接探测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1914 — Chadwick</a:t>
                </a:r>
                <a:r>
                  <a:rPr/>
                  <a:t>：观测到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衰变电子能谱呈连续分布，能量似乎”丢失”</a:t>
                </a:r>
              </a:p>
              <a:p>
                <a:pPr lvl="0"/>
                <a:r>
                  <a:rPr b="1"/>
                  <a:t>1930 — Pauli</a:t>
                </a:r>
                <a:r>
                  <a:rPr/>
                  <a:t>：为挽救能量–动量守恒，提出存在质量极小的中性粒子</a:t>
                </a:r>
              </a:p>
              <a:p>
                <a:pPr lvl="0"/>
                <a:r>
                  <a:rPr b="1"/>
                  <a:t>1934 — Fermi</a:t>
                </a:r>
                <a:r>
                  <a:rPr/>
                  <a:t>：建立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衰变弱相互作用定量理论，正式纳入中微子</a:t>
                </a:r>
              </a:p>
              <a:p>
                <a:pPr lvl="0"/>
                <a:r>
                  <a:rPr b="1"/>
                  <a:t>1956 — Reines &amp; Cowan</a:t>
                </a:r>
                <a:r>
                  <a:rPr/>
                  <a:t>：在反应堆旁利用逆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衰变（IBD）首次直接探测到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ν</m:t>
                            </m:r>
                          </m:e>
                        </m:acc>
                      </m:e>
                      <m:sub>
                        <m:r>
                          <m:t>e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ν</m:t>
                              </m:r>
                            </m:e>
                          </m:acc>
                        </m:e>
                        <m:sub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→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t>n</m:t>
                      </m:r>
                      <m:r>
                        <m:t>  </m:t>
                      </m:r>
                      <m:r>
                        <m:rPr>
                          <m:nor/>
                          <m:sty m:val="p"/>
                        </m:rPr>
                        <m:t>（同一反应至今仍是反应堆中微子实验的核心通道）</m:t>
                      </m:r>
                    </m:oMath>
                  </m:oMathPara>
                </a14:m>
              </a:p>
              <a:p>
                <a:pPr lvl="0"/>
                <a:r>
                  <a:rPr/>
                  <a:t>中微子物理由”理论假说”正式进入”实验科学”时代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中微子的发现历程（二）：三代中微子与基本性质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三代中微子的相继确立</a:t>
                </a:r>
              </a:p>
              <a:p>
                <a:pPr lvl="1"/>
                <a:r>
                  <a:rPr/>
                  <a:t>1956 — </a:t>
                </a:r>
                <a14:m>
                  <m:oMath xmlns:m="http://schemas.openxmlformats.org/officeDocument/2006/math">
                    <m:sSub>
                      <m:e>
                        <m:r>
                          <m:t>ν</m:t>
                        </m:r>
                      </m:e>
                      <m:sub>
                        <m:r>
                          <m:t>e</m:t>
                        </m:r>
                      </m:sub>
                    </m:sSub>
                  </m:oMath>
                </a14:m>
                <a:r>
                  <a:rPr/>
                  <a:t>（Reines &amp; Cowan，反应堆）</a:t>
                </a:r>
              </a:p>
              <a:p>
                <a:pPr lvl="1"/>
                <a:r>
                  <a:rPr/>
                  <a:t>1962 — </a:t>
                </a:r>
                <a14:m>
                  <m:oMath xmlns:m="http://schemas.openxmlformats.org/officeDocument/2006/math">
                    <m:sSub>
                      <m:e>
                        <m:r>
                          <m:t>ν</m:t>
                        </m:r>
                      </m:e>
                      <m:sub>
                        <m:r>
                          <m:t>μ</m:t>
                        </m:r>
                      </m:sub>
                    </m:sSub>
                  </m:oMath>
                </a14:m>
                <a:r>
                  <a:rPr/>
                  <a:t>（BNL，加速器，1988 诺贝尔奖）</a:t>
                </a:r>
              </a:p>
              <a:p>
                <a:pPr lvl="1"/>
                <a:r>
                  <a:rPr/>
                  <a:t>2000 — </a:t>
                </a:r>
                <a14:m>
                  <m:oMath xmlns:m="http://schemas.openxmlformats.org/officeDocument/2006/math">
                    <m:sSub>
                      <m:e>
                        <m:r>
                          <m:t>ν</m:t>
                        </m:r>
                      </m:e>
                      <m:sub>
                        <m:r>
                          <m:t>τ</m:t>
                        </m:r>
                      </m:sub>
                    </m:sSub>
                  </m:oMath>
                </a14:m>
                <a:r>
                  <a:rPr/>
                  <a:t>（Fermilab DONUT 直接观测）</a:t>
                </a:r>
              </a:p>
              <a:p>
                <a:pPr lvl="0"/>
                <a:r>
                  <a:rPr b="1"/>
                  <a:t>基本物理性质</a:t>
                </a:r>
              </a:p>
              <a:p>
                <a:pPr lvl="1"/>
                <a:r>
                  <a:rPr/>
                  <a:t>电中性、自旋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</m:oMath>
                </a14:m>
                <a:r>
                  <a:rPr/>
                  <a:t>、仅参与弱相互作用 → 与物质相互作用截面极小</a:t>
                </a:r>
              </a:p>
              <a:p>
                <a:pPr lvl="1"/>
                <a:r>
                  <a:rPr/>
                  <a:t>1956 Lee–Yang 提出弱作用宇称破缺 → 1957 吴健雄实验证实</a:t>
                </a:r>
              </a:p>
              <a:p>
                <a:pPr lvl="1"/>
                <a:r>
                  <a:rPr/>
                  <a:t>Goldhaber 实验直接测量手征性 → 中微子仅以左旋态存在</a:t>
                </a:r>
              </a:p>
              <a:p>
                <a:pPr lvl="0"/>
                <a:r>
                  <a:rPr/>
                  <a:t>三代中微子构成标准模型轻子家族；但其</a:t>
                </a:r>
                <a:r>
                  <a:rPr b="1"/>
                  <a:t>质量是否为零</a:t>
                </a:r>
                <a:r>
                  <a:rPr/>
                  <a:t>长期悬而未决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中微子振荡：唯一坚实的超出标准模型新物理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振荡现象的实验链条</a:t>
                </a:r>
              </a:p>
              <a:p>
                <a:pPr lvl="1"/>
                <a:r>
                  <a:rPr/>
                  <a:t>1998 Super-Kamiokande：大气中微子振荡 → 中微子有非零质量</a:t>
                </a:r>
              </a:p>
              <a:p>
                <a:pPr lvl="1"/>
                <a:r>
                  <a:rPr/>
                  <a:t>2002 SNO：太阳中微子味态转换</a:t>
                </a:r>
              </a:p>
              <a:p>
                <a:pPr lvl="1"/>
                <a:r>
                  <a:rPr/>
                  <a:t>2003 KamLAND：~180 km 反应堆基线确证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a:p>
              <a:p>
                <a:pPr lvl="1"/>
                <a:r>
                  <a:rPr/>
                  <a:t>2012 Daya Bay / RENO / Double Chooz：测得非零的 </a:t>
                </a:r>
                <a14:m>
                  <m:oMath xmlns:m="http://schemas.openxmlformats.org/officeDocument/2006/math"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13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PMNS 矩阵</a:t>
                </a:r>
                <a:r>
                  <a:rPr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sSub>
                      <m:e>
                        <m:r>
                          <m:t>ν</m:t>
                        </m:r>
                      </m:e>
                      <m:sub>
                        <m:r>
                          <m:t>α</m:t>
                        </m:r>
                      </m:sub>
                    </m:sSub>
                    <m:r>
                      <m:rPr>
                        <m:sty m:val="p"/>
                      </m:rPr>
                      <m:t>⟩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k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Sup>
                          <m:e>
                            <m:r>
                              <m:t>U</m:t>
                            </m:r>
                          </m:e>
                          <m:sub>
                            <m:r>
                              <m:t>α</m:t>
                            </m:r>
                            <m:r>
                              <m:t>k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*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m:t>|</m:t>
                    </m:r>
                    <m:sSub>
                      <m:e>
                        <m:r>
                          <m:t>ν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⟩</m:t>
                    </m:r>
                  </m:oMath>
                </a14:m>
                <a:r>
                  <a:rPr/>
                  <a:t>，由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C</m:t>
                        </m:r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参数化</a:t>
                </a:r>
              </a:p>
              <a:p>
                <a:pPr lvl="0"/>
                <a:r>
                  <a:rPr b="1"/>
                  <a:t>超出标准模型的物理意义</a:t>
                </a:r>
              </a:p>
              <a:p>
                <a:pPr lvl="1"/>
                <a:r>
                  <a:rPr/>
                  <a:t>标准模型中中微子假定无质量 → 振荡的存在直接要求扩展标准模型</a:t>
                </a:r>
              </a:p>
              <a:p>
                <a:pPr lvl="1"/>
                <a:r>
                  <a:rPr/>
                  <a:t>“跷跷板”机制：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ν</m:t>
                        </m:r>
                      </m:sub>
                    </m:sSub>
                    <m:r>
                      <m:rPr>
                        <m:sty m:val="p"/>
                      </m:rPr>
                      <m:t>≃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D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M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，自然解释中微子质量极小</a:t>
                </a:r>
              </a:p>
              <a:p>
                <a:pPr lvl="1"/>
                <a:r>
                  <a:rPr/>
                  <a:t>关联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t>ν</m:t>
                    </m:r>
                    <m:r>
                      <m:t>β</m:t>
                    </m:r>
                    <m:r>
                      <m:t>β</m:t>
                    </m:r>
                  </m:oMath>
                </a14:m>
                <a:r>
                  <a:rPr/>
                  <a:t>（Majorana 性质）、质量序、宇宙物质–反物质不对称</a:t>
                </a:r>
              </a:p>
              <a:p>
                <a:pPr lvl="0"/>
                <a:r>
                  <a:rPr/>
                  <a:t>中微子物理已从”现象发现”步入”</a:t>
                </a:r>
                <a:r>
                  <a:rPr b="1"/>
                  <a:t>高精度测量时代</a:t>
                </a:r>
                <a:r>
                  <a:rPr/>
                  <a:t>”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JUNO 实验原理（一）：探测器与 IBD 反应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探测器结构</a:t>
                </a:r>
              </a:p>
              <a:p>
                <a:pPr lvl="1"/>
                <a:r>
                  <a:rPr/>
                  <a:t>地下 700 m，20 kt 液体闪烁体（直径 35.4 m 有机玻璃球）</a:t>
                </a:r>
              </a:p>
              <a:p>
                <a:pPr lvl="1"/>
                <a:r>
                  <a:rPr/>
                  <a:t>35 kt 水切伦科夫池 + Top Tracker → 宇宙线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子标记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  <a:r>
                  <a:rPr/>
                  <a:t> 只 20 英寸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600</m:t>
                    </m:r>
                  </m:oMath>
                </a14:m>
                <a:r>
                  <a:rPr/>
                  <a:t> 只 3 英寸 PMT，覆盖率 ~75%</a:t>
                </a:r>
              </a:p>
              <a:p>
                <a:pPr lvl="1"/>
                <a:r>
                  <a:rPr b="1"/>
                  <a:t>能量分辨率 ~3% @ 1 MeV</a:t>
                </a:r>
                <a:r>
                  <a:rPr/>
                  <a:t>（设计指标）</a:t>
                </a:r>
              </a:p>
              <a:p>
                <a:pPr lvl="0"/>
                <a:r>
                  <a:rPr b="1"/>
                  <a:t>核心探测反应：逆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 b="1"/>
                  <a:t> 衰变（IBD）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ν</m:t>
                              </m:r>
                            </m:e>
                          </m:acc>
                        </m:e>
                        <m:sub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→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/>
                <a:r>
                  <a:rPr/>
                  <a:t>正电子（快信号）+ 中子俘获 </a:t>
                </a:r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（慢信号）→ 快慢符合显著抑制本底</a:t>
                </a:r>
              </a:p>
              <a:p>
                <a:pPr lvl="0"/>
                <a:r>
                  <a:rPr b="1"/>
                  <a:t>能量映射链</a:t>
                </a:r>
              </a:p>
              <a:p>
                <a:pPr lvl="0" indent="0" marL="0">
                  <a:buNone/>
                </a:pPr>
                <a:r>
                  <a:rPr/>
                  <a:t>$$E_{\bar{\nu}_e} \xrightarrow{\text{kinematics}} E_e \xrightarrow{\text{annihilation}} E_{\rm dep} \xrightarrow{\text{LSNL}} E_{\rm vis} \xrightarrow{\text{resolution}} E_{\rm rec}$$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JUNO 实验原理（二）：基线选择与振荡敏感性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平均基线 ~52.5 km</a:t>
                </a:r>
                <a:r>
                  <a:rPr/>
                  <a:t>：接近太阳振荡极大值 → 同一能谱同时承载快、慢两类频率成分</a:t>
                </a:r>
              </a:p>
              <a:p>
                <a:pPr lvl="0"/>
                <a:r>
                  <a:rPr b="1"/>
                  <a:t>反应堆中微子存活概率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ν</m:t>
                              </m:r>
                            </m:e>
                          </m:acc>
                        </m:e>
                        <m:sub>
                          <m:r>
                            <m:t>e</m:t>
                          </m:r>
                        </m:sub>
                      </m:sSub>
                      <m:r>
                        <m:t>​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​</m:t>
                      </m:r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ν</m:t>
                              </m:r>
                            </m:e>
                          </m:acc>
                        </m:e>
                        <m:sub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sin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2</m:t>
                      </m:r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12</m:t>
                          </m:r>
                        </m:sub>
                      </m:sSub>
                      <m:r>
                        <m:t> </m:t>
                      </m:r>
                      <m:sSubSup>
                        <m:e>
                          <m:r>
                            <m:t>c</m:t>
                          </m:r>
                        </m:e>
                        <m:sub>
                          <m:r>
                            <m:t>13</m:t>
                          </m:r>
                        </m:sub>
                        <m:sup>
                          <m:r>
                            <m:t>4</m:t>
                          </m:r>
                        </m:sup>
                      </m:sSubSup>
                      <m:sSup>
                        <m:e>
                          <m:r>
                            <m:rPr>
                              <m:sty m:val="p"/>
                            </m:rPr>
                            <m:t>sin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​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Δ</m:t>
                          </m:r>
                          <m:sSubSup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21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  <m:r>
                            <m:t>L</m:t>
                          </m:r>
                        </m:num>
                        <m:den>
                          <m:r>
                            <m:t>4</m:t>
                          </m:r>
                          <m:r>
                            <m:t>E</m:t>
                          </m:r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sin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2</m:t>
                      </m:r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13</m:t>
                          </m:r>
                        </m:sub>
                      </m:sSub>
                      <m:r>
                        <m:t>​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Sup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12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  <m:sSup>
                            <m:e>
                              <m:r>
                                <m:rPr>
                                  <m:sty m:val="p"/>
                                </m:rPr>
                                <m:t>sin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t>​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Δ</m:t>
                              </m:r>
                              <m:sSubSup>
                                <m:e>
                                  <m:r>
                                    <m:t>m</m:t>
                                  </m:r>
                                </m:e>
                                <m:sub>
                                  <m:r>
                                    <m:t>31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  <m:r>
                                <m:t>L</m:t>
                              </m:r>
                            </m:num>
                            <m:den>
                              <m:r>
                                <m:t>4</m:t>
                              </m:r>
                              <m:r>
                                <m:t>E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+</m:t>
                          </m:r>
                          <m:sSubSup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12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  <m:sSup>
                            <m:e>
                              <m:r>
                                <m:rPr>
                                  <m:sty m:val="p"/>
                                </m:rPr>
                                <m:t>sin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t>​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Δ</m:t>
                              </m:r>
                              <m:sSubSup>
                                <m:e>
                                  <m:r>
                                    <m:t>m</m:t>
                                  </m:r>
                                </m:e>
                                <m:sub>
                                  <m:r>
                                    <m:t>32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  <m:r>
                                <m:t>L</m:t>
                              </m:r>
                            </m:num>
                            <m:den>
                              <m:r>
                                <m:t>4</m:t>
                              </m:r>
                              <m:r>
                                <m:t>E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/>
                <a:r>
                  <a:rPr b="1"/>
                  <a:t>物理目标</a:t>
                </a:r>
              </a:p>
              <a:p>
                <a:pPr lvl="1"/>
                <a:r>
                  <a:rPr/>
                  <a:t>中微子</a:t>
                </a:r>
                <a:r>
                  <a:rPr b="1"/>
                  <a:t>质量序</a:t>
                </a:r>
                <a:r>
                  <a:rPr/>
                  <a:t>判定（约 6 年运行达 </a:t>
                </a:r>
                <a14:m>
                  <m:oMath xmlns:m="http://schemas.openxmlformats.org/officeDocument/2006/math">
                    <m:r>
                      <m:t>3</m:t>
                    </m:r>
                  </m:oMath>
                </a14:m>
                <a:r>
                  <a:rPr/>
                  <a:t>–</a:t>
                </a:r>
                <a14:m>
                  <m:oMath xmlns:m="http://schemas.openxmlformats.org/officeDocument/2006/math">
                    <m:r>
                      <m:t>4</m:t>
                    </m:r>
                    <m:r>
                      <m:t>σ</m:t>
                    </m:r>
                  </m:oMath>
                </a14:m>
                <a:r>
                  <a:rPr/>
                  <a:t>）</a:t>
                </a:r>
              </a:p>
              <a:p>
                <a:pPr lvl="1"/>
                <a:r>
                  <a:rPr/>
                  <a:t>亚百分比精度精测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a:p>
              <a:p>
                <a:pPr lvl="1"/>
                <a:r>
                  <a:rPr/>
                  <a:t>多源中微子科学：太阳、大气、超新星、地球中微子，及惰性中微子等新物理</a:t>
                </a:r>
              </a:p>
              <a:p>
                <a:pPr lvl="0"/>
                <a:r>
                  <a:rPr b="1"/>
                  <a:t>2025 年首篇物理结果（59.1 天数据，2379 IBD 事例）</a:t>
                </a:r>
              </a:p>
              <a:p>
                <a:pPr lvl="1"/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0.3092</m:t>
                    </m:r>
                    <m:r>
                      <m:rPr>
                        <m:sty m:val="p"/>
                      </m:rPr>
                      <m:t>±</m:t>
                    </m:r>
                    <m:r>
                      <m:t>0.0087</m:t>
                    </m:r>
                  </m:oMath>
                </a14:m>
                <a:r>
                  <a:rPr/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7.50</m:t>
                    </m:r>
                    <m:r>
                      <m:rPr>
                        <m:sty m:val="p"/>
                      </m:rPr>
                      <m:t>±</m:t>
                    </m:r>
                    <m:r>
                      <m:t>0.12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  <m: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m:t>e</m:t>
                        </m:r>
                        <m:r>
                          <m:rPr>
                            <m:sty m:val="p"/>
                          </m:rPr>
                          <m:t>V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1"/>
                <a:r>
                  <a:rPr/>
                  <a:t>太阳振荡参数测量精度较此前全球结果提升 </a:t>
                </a:r>
                <a:r>
                  <a:rPr b="1"/>
                  <a:t>~1.6 倍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1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国际中微子实验格局：JUNO 的位置与竞争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143000" /><a:gridCol w="1917700" /><a:gridCol w="2489200" /><a:gridCol w="2679700" /></a:tblGrid><a:tr h="0"><a:tc><a:txBody><a:bodyPr /><a:lstStyle /><a:p><a:pPr lvl="0" indent="0" marL="0"><a:buNone /></a:pPr><a:r><a:rPr /><a:t>类别</a:t></a:r></a:p></a:txBody><a:tcPr /></a:tc><a:tc><a:txBody><a:bodyPr /><a:lstStyle /><a:p><a:pPr lvl="0" indent="0" marL="0"><a:buNone /></a:pPr><a:r><a:rPr /><a:t>代表实验</a:t></a:r></a:p></a:txBody><a:tcPr /></a:tc><a:tc><a:txBody><a:bodyPr /><a:lstStyle /><a:p><a:pPr lvl="0" indent="0" marL="0"><a:buNone /></a:pPr><a:r><a:rPr /><a:t>基线 / 类型</a:t></a:r></a:p></a:txBody><a:tcPr /></a:tc><a:tc><a:txBody><a:bodyPr /><a:lstStyle /><a:p><a:pPr lvl="0" indent="0" marL="0"><a:buNone /></a:pPr><a:r><a:rPr /><a:t>主要物理目标</a:t></a:r></a:p></a:txBody><a:tcPr /></a:tc></a:tr><a:tr h="0"><a:tc><a:txBody><a:bodyPr /><a:lstStyle /><a:p><a:pPr lvl="0" indent="0" marL="0"><a:buNone /></a:pPr><a:r><a:rPr /><a:t>短基线反应堆</a:t></a:r></a:p></a:txBody></a:tc><a:tc><a:txBody><a:bodyPr /><a:lstStyle /><a:p><a:pPr lvl="0" indent="0" marL="0"><a:buNone /></a:pPr><a:r><a:rPr /><a:t>Daya Bay, RENO, Double Chooz</a:t></a:r></a:p></a:txBody></a:tc><a:tc><a:txBody><a:bodyPr /><a:lstStyle /><a:p><a:pPr lvl="0" indent="0" marL="0"><a:buNone /></a:pPr><a:r><a:rPr /><a:t>~1–2 km</a:t></a:r></a:p></a:txBody></a:tc><a:tc><a:txBody><a:bodyPr /><a:lstStyle /><a:p><a:pPr lvl="0" indent="0" marL="0"><a:buNone /></a:pPr><a14:m><m:oMath xmlns:m="http://schemas.openxmlformats.org/officeDocument/2006/math"><m:sSub><m:e><m:r><m:t>θ</m:t></m:r></m:e><m:sub><m:r><m:t>13</m:t></m:r></m:sub></m:sSub></m:oMath></a14:m><a:r><a:rPr /><a:t> 精测、反应堆能谱模型</a:t></a:r></a:p></a:txBody></a:tc></a:tr><a:tr h="0"><a:tc><a:txBody><a:bodyPr /><a:lstStyle /><a:p><a:pPr lvl="0" indent="0" marL="0"><a:buNone /></a:pPr><a:r><a:rPr /><a:t>长基线反应堆</a:t></a:r></a:p></a:txBody></a:tc><a:tc><a:txBody><a:bodyPr /><a:lstStyle /><a:p><a:pPr lvl="0" indent="0" marL="0"><a:buNone /></a:pPr><a:r><a:rPr /><a:t>KamLAND（已退役）</a:t></a:r></a:p></a:txBody></a:tc><a:tc><a:txBody><a:bodyPr /><a:lstStyle /><a:p><a:pPr lvl="0" indent="0" marL="0"><a:buNone /></a:pPr><a:r><a:rPr /><a:t>~180 km</a:t></a:r></a:p></a:txBody></a:tc><a:tc><a:txBody><a:bodyPr /><a:lstStyle /><a:p><a:pPr lvl="0" indent="0" marL="0"><a:buNone /></a:pPr><a14:m><m:oMath xmlns:m="http://schemas.openxmlformats.org/officeDocument/2006/math"><m:r><m:rPr><m:sty m:val="p" /></m:rPr><m:t>Δ</m:t></m:r><m:sSubSup><m:e><m:r><m:t>m</m:t></m:r></m:e><m:sub><m:r><m:t>21</m:t></m:r></m:sub><m:sup><m:r><m:t>2</m:t></m:r></m:sup></m:sSubSup></m:oMath></a14:m><a:r><a:rPr /><a:t> 首测</a:t></a:r></a:p></a:txBody></a:tc></a:tr><a:tr h="0"><a:tc><a:txBody><a:bodyPr /><a:lstStyle /><a:p><a:pPr lvl="0" indent="0" marL="0"><a:buNone /></a:pPr><a:r><a:rPr b="1" /><a:t>中基线反应堆</a:t></a:r></a:p></a:txBody></a:tc><a:tc><a:txBody><a:bodyPr /><a:lstStyle /><a:p><a:pPr lvl="0" indent="0" marL="0"><a:buNone /></a:pPr><a:r><a:rPr b="1" /><a:t>JUNO</a:t></a:r></a:p></a:txBody></a:tc><a:tc><a:txBody><a:bodyPr /><a:lstStyle /><a:p><a:pPr lvl="0" indent="0" marL="0"><a:buNone /></a:pPr><a:r><a:rPr b="1" /><a:t>~52.5 km</a:t></a:r></a:p></a:txBody></a:tc><a:tc><a:txBody><a:bodyPr /><a:lstStyle /><a:p><a:pPr lvl="0" indent="0" marL="0"><a:buNone /></a:pPr><a:r><a:rPr b="1" /><a:t>质量序 + </a:t></a:r><a14:m><m:oMath xmlns:m="http://schemas.openxmlformats.org/officeDocument/2006/math"><m:sSub><m:e><m:r><m:t>θ</m:t></m:r></m:e><m:sub><m:r><m:t>12</m:t></m:r></m:sub></m:sSub></m:oMath></a14:m><a:r><a:rPr b="1" /><a:t>/</a:t></a:r><a14:m><m:oMath xmlns:m="http://schemas.openxmlformats.org/officeDocument/2006/math"><m:r><m:rPr><m:sty m:val="p" /></m:rPr><m:t>Δ</m:t></m:r><m:sSubSup><m:e><m:r><m:t>m</m:t></m:r></m:e><m:sub><m:r><m:t>21</m:t></m:r><m:r><m:rPr><m:sty m:val="p" /></m:rPr><m:t>,</m:t></m:r><m:r><m:t>31</m:t></m:r></m:sub><m:sup><m:r><m:t>2</m:t></m:r></m:sup></m:sSubSup></m:oMath></a14:m><a:r><a:rPr b="1" /><a:t> 精测</a:t></a:r></a:p></a:txBody></a:tc></a:tr><a:tr h="0"><a:tc><a:txBody><a:bodyPr /><a:lstStyle /><a:p><a:pPr lvl="0" indent="0" marL="0"><a:buNone /></a:pPr><a:r><a:rPr /><a:t>长基线加速器</a:t></a:r></a:p></a:txBody></a:tc><a:tc><a:txBody><a:bodyPr /><a:lstStyle /><a:p><a:pPr lvl="0" indent="0" marL="0"><a:buNone /></a:pPr><a:r><a:rPr /><a:t>T2K, NOvA, </a:t></a:r><a:r><a:rPr b="1" /><a:t>DUNE</a:t></a:r><a:r><a:rPr /><a:t>, </a:t></a:r><a:r><a:rPr b="1" /><a:t>Hyper-K</a:t></a:r></a:p></a:txBody></a:tc><a:tc><a:txBody><a:bodyPr /><a:lstStyle /><a:p><a:pPr lvl="0" indent="0" marL="0"><a:buNone /></a:pPr><a:r><a:rPr /><a:t>数百–千 km</a:t></a:r></a:p></a:txBody></a:tc><a:tc><a:txBody><a:bodyPr /><a:lstStyle /><a:p><a:pPr lvl="0" indent="0" marL="0"><a:buNone /></a:pPr><a14:m><m:oMath xmlns:m="http://schemas.openxmlformats.org/officeDocument/2006/math"><m:sSub><m:e><m:r><m:t>δ</m:t></m:r></m:e><m:sub><m:r><m:t>C</m:t></m:r><m:r><m:t>P</m:t></m:r></m:sub></m:sSub></m:oMath></a14:m><a:r><a:rPr /><a:t>、质量序、</a:t></a:r><a14:m><m:oMath xmlns:m="http://schemas.openxmlformats.org/officeDocument/2006/math"><m:sSub><m:e><m:r><m:t>θ</m:t></m:r></m:e><m:sub><m:r><m:t>23</m:t></m:r></m:sub></m:sSub></m:oMath></a14:m><a:r><a:rPr /><a:t> 八重态</a:t></a:r></a:p></a:txBody></a:tc></a:tr><a:tr h="0"><a:tc><a:txBody><a:bodyPr /><a:lstStyle /><a:p><a:pPr lvl="0" indent="0" marL="0"><a:buNone /></a:pPr><a:r><a:rPr /><a:t>大气 / 望远镜</a:t></a:r></a:p></a:txBody></a:tc><a:tc><a:txBody><a:bodyPr /><a:lstStyle /><a:p><a:pPr lvl="0" indent="0" marL="0"><a:buNone /></a:pPr><a:r><a:rPr /><a:t>Super-K, IceCube/PINGU, KM3NeT</a:t></a:r></a:p></a:txBody></a:tc><a:tc><a:txBody><a:bodyPr /><a:lstStyle /><a:p><a:pPr lvl="0" indent="0" marL="0"><a:buNone /></a:pPr><a:r><a:rPr /><a:t>地球直径</a:t></a:r></a:p></a:txBody></a:tc><a:tc><a:txBody><a:bodyPr /><a:lstStyle /><a:p><a:pPr lvl="0" indent="0" marL="0"><a:buNone /></a:pPr><a:r><a:rPr /><a:t>大气振荡、质量序</a:t></a:r></a:p></a:txBody></a:tc></a:tr><a:tr h="0"><a:tc><a:txBody><a:bodyPr /><a:lstStyle /><a:p><a:pPr lvl="0" indent="0" marL="0"><a:buNone /></a:pPr><a:r><a:rPr /><a:t>太阳 / 低能</a:t></a:r></a:p></a:txBody></a:tc><a:tc><a:txBody><a:bodyPr /><a:lstStyle /><a:p><a:pPr lvl="0" indent="0" marL="0"><a:buNone /></a:pPr><a:r><a:rPr /><a:t>SNO+, Borexino, Darwin</a:t></a:r></a:p></a:txBody></a:tc><a:tc><a:txBody><a:bodyPr /><a:lstStyle /><a:p><a:pPr lvl="0" indent="0" marL="0"><a:buNone /></a:pPr><a:r><a:rPr /><a:t>—</a:t></a:r></a:p></a:txBody></a:tc><a:tc><a:txBody><a:bodyPr /><a:lstStyle /><a:p><a:pPr lvl="0" indent="0" marL="0"><a:buNone /></a:pPr><a:r><a:rPr /><a:t>太阳模型、CNO、低能本底控制</a:t></a:r></a:p></a:txBody></a:tc></a:tr></a:tbl></a:graphicData></a:graphic></p:graphicFrame></p:spTree></p:cSld>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JUNO 的独特优势</a:t>
                </a:r>
                <a:r>
                  <a:rPr/>
                  <a:t>：唯一在单台探测器上</a:t>
                </a:r>
                <a:r>
                  <a:rPr b="1"/>
                  <a:t>同时</a:t>
                </a:r>
                <a:r>
                  <a:rPr/>
                  <a:t>对慢振荡（太阳）与快振荡（大气）敏感</a:t>
                </a:r>
              </a:p>
              <a:p>
                <a:pPr lvl="0"/>
                <a:r>
                  <a:rPr/>
                  <a:t>对加速器实验形成</a:t>
                </a:r>
                <a:r>
                  <a:rPr b="1"/>
                  <a:t>互补</a:t>
                </a:r>
                <a:r>
                  <a:rPr/>
                  <a:t>：JUNO 用真空振荡测质量序，DUNE/HK 用物质效应；联合分析可显著增强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C</m:t>
                        </m:r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灵敏度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本文要解决的三大科学问题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低统计量下重建能谱分箱导致的拟合偏差</a:t>
                </a:r>
              </a:p>
              <a:p>
                <a:pPr lvl="1"/>
                <a:r>
                  <a:rPr/>
                  <a:t>早期数据样本有限 → 分箱过细使每 bin 计数小 → 高斯近似失效</a:t>
                </a:r>
              </a:p>
              <a:p>
                <a:pPr lvl="1"/>
                <a:r>
                  <a:rPr/>
                  <a:t>直接结果：振荡参数（尤其幅度类参数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）估计出现系统偏差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JUNO–Daya Bay 联合分析中的反应堆能谱分段（Wiggle 问题）</a:t>
                </a:r>
              </a:p>
              <a:p>
                <a:pPr lvl="1"/>
                <a:r>
                  <a:rPr/>
                  <a:t>JUNO 高分辨率 vs Daya Bay 有限分辨率 → 反应堆谱过细分段超出近点约束能力</a:t>
                </a:r>
              </a:p>
              <a:p>
                <a:pPr lvl="1"/>
                <a:r>
                  <a:rPr/>
                  <a:t>引入非物理”Wiggle”结构 → 模型依赖系统误差不可忽略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Wilks 定理失效与振荡参数简并</a:t>
                </a:r>
              </a:p>
              <a:p>
                <a:pPr lvl="1"/>
                <a:r>
                  <a:rPr/>
                  <a:t>低统计量下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似然面非二次、多极小、置信区间可能不连续</a:t>
                </a:r>
              </a:p>
              <a:p>
                <a:pPr lvl="1"/>
                <a:r>
                  <a:rPr/>
                  <a:t>渐近阈值不再保证频率学覆盖率 → 须以 </a:t>
                </a:r>
                <a:r>
                  <a:rPr b="1"/>
                  <a:t>Feldman–Cousins</a:t>
                </a:r>
                <a:r>
                  <a:rPr/>
                  <a:t> 方法重建临界值</a:t>
                </a:r>
              </a:p>
              <a:p>
                <a:pPr lvl="0"/>
                <a:r>
                  <a:rPr/>
                  <a:t>三大问题对应论文第四章（分箱）、第四章（分段）、第五章（FC）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引言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共性需求：海量 Toy-MC 与拟合算法加速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三大问题在方法上</a:t>
                </a:r>
                <a:r>
                  <a:rPr b="1"/>
                  <a:t>统一指向</a:t>
                </a:r>
                <a:r>
                  <a:rPr/>
                  <a:t>伪实验（Toy-MC）驱动的频率学评估</a:t>
                </a:r>
              </a:p>
              <a:p>
                <a:pPr lvl="1"/>
                <a:r>
                  <a:rPr/>
                  <a:t>分箱偏差研究：每个候选 bin 方案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数千次 Toy 拟合</a:t>
                </a:r>
              </a:p>
              <a:p>
                <a:pPr lvl="1"/>
                <a:r>
                  <a:rPr/>
                  <a:t>分段策略评估：固定/扰动反应堆模型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数千次 Toy 拟合</a:t>
                </a:r>
              </a:p>
              <a:p>
                <a:pPr lvl="1"/>
                <a:r>
                  <a:rPr/>
                  <a:t>FC 覆盖性检验：参数网格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伪实验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m:t>∼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6</m:t>
                        </m:r>
                      </m:sup>
                    </m:sSup>
                  </m:oMath>
                </a14:m>
                <a:r>
                  <a:rPr/>
                  <a:t> 量级拟合</a:t>
                </a:r>
              </a:p>
              <a:p>
                <a:pPr lvl="0" indent="0" marL="0">
                  <a:buNone/>
                </a:pPr>
                <a:r>
                  <a:rPr/>
                  <a:t>$$N_{\rm fits}\sim N_{\rm pts}\times N_{\rm toys}\times N_{\rm init}\;\;\Rightarrow\;\;\mathcal{O}(10^6)\;\text{次完整拟合}$$</a:t>
                </a:r>
              </a:p>
              <a:p>
                <a:pPr lvl="0"/>
                <a:r>
                  <a:rPr/>
                  <a:t>单次反应堆能谱拟合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100</m:t>
                    </m:r>
                  </m:oMath>
                </a14:m>
                <a:r>
                  <a:rPr/>
                  <a:t> s 量级 → 总计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</m:oMath>
                </a14:m>
                <a:r>
                  <a:rPr/>
                  <a:t> CPU·h</a:t>
                </a:r>
              </a:p>
              <a:p>
                <a:pPr lvl="0"/>
                <a:r>
                  <a:rPr b="1"/>
                  <a:t>结论</a:t>
                </a:r>
                <a:r>
                  <a:rPr/>
                  <a:t>：必须从算法 + 工程层面对前向折叠拟合器进行</a:t>
                </a:r>
                <a:r>
                  <a:rPr b="1"/>
                  <a:t>极致加速</a:t>
                </a:r>
                <a:r>
                  <a:rPr/>
                  <a:t>（第三章）</a:t>
                </a:r>
              </a:p>
              <a:p>
                <a:pPr lvl="0"/>
                <a:r>
                  <a:rPr b="1"/>
                  <a:t>本文方法学路径</a:t>
                </a:r>
                <a:r>
                  <a:rPr/>
                  <a:t>：高性能张量化拟合框架（第三章）+ 合理分箱/分段策略（第四章）+ 严格频率学覆盖（第五章）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第一章 本章小结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主要结论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发现历程</a:t>
                </a:r>
                <a:r>
                  <a:rPr/>
                  <a:t>：从 Pauli 假说（1930）到 Reines–Cowan 直接探测（1956），再到三代中微子的相继确立，奠定了中微子物理的基础</a:t>
                </a:r>
              </a:p>
              <a:p>
                <a:pPr lvl="0"/>
                <a:r>
                  <a:rPr b="1"/>
                  <a:t>新物理意义</a:t>
                </a:r>
                <a:r>
                  <a:rPr/>
                  <a:t>：中微子振荡是</a:t>
                </a:r>
                <a:r>
                  <a:rPr b="1"/>
                  <a:t>迄今唯一坚实的超出标准模型新物理证据</a:t>
                </a:r>
                <a:r>
                  <a:rPr/>
                  <a:t>，关联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t>ν</m:t>
                    </m:r>
                    <m:r>
                      <m:t>β</m:t>
                    </m:r>
                    <m:r>
                      <m:t>β</m:t>
                    </m:r>
                  </m:oMath>
                </a14:m>
                <a:r>
                  <a:rPr/>
                  <a:t>、质量序与宇宙物质–反物质不对称</a:t>
                </a:r>
              </a:p>
              <a:p>
                <a:pPr lvl="0"/>
                <a:r>
                  <a:rPr b="1"/>
                  <a:t>JUNO 实验</a:t>
                </a:r>
                <a:r>
                  <a:rPr/>
                  <a:t>：20 kt LS + ~3% @ 1 MeV 能量分辨率，借助 IBD 反应在 ~52.5 km 基线对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、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 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同时敏感；2025 年首篇物理结果将太阳振荡参数精度提升 ~1.6 倍</a:t>
                </a:r>
              </a:p>
              <a:p>
                <a:pPr lvl="0"/>
                <a:r>
                  <a:rPr b="1"/>
                  <a:t>国际格局</a:t>
                </a:r>
                <a:r>
                  <a:rPr/>
                  <a:t>：JUNO 与短基线反应堆、长基线加速器、大气与太阳实验共同构成全球网络，并在质量序与精测能力上具有独特优势</a:t>
                </a:r>
              </a:p>
              <a:p>
                <a:pPr lvl="0"/>
                <a:r>
                  <a:rPr b="1"/>
                  <a:t>三大科学问题</a:t>
                </a:r>
                <a:r>
                  <a:rPr/>
                  <a:t>：低统计量拟合偏差、联合分析 Wiggle、Wilks 失效与参数简并 → </a:t>
                </a:r>
                <a:r>
                  <a:rPr b="1"/>
                  <a:t>共性需求</a:t>
                </a:r>
                <a:r>
                  <a:rPr/>
                  <a:t>：海量 Toy-MC、必须依赖</a:t>
                </a:r>
                <a:r>
                  <a:rPr b="1"/>
                  <a:t>高性能拟合算法 + 严格频率学统计方法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反应堆中微子探测原理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探测反应：逆贝塔衰变 (Inverse Beta Decay)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ν</m:t>
                              </m:r>
                            </m:e>
                          </m:acc>
                        </m:e>
                        <m:sub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→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/>
                <a:r>
                  <a:rPr/>
                  <a:t>快慢符合显著抑制本底</a:t>
                </a:r>
              </a:p>
              <a:p>
                <a:pPr lvl="0"/>
                <a:r>
                  <a:rPr/>
                  <a:t>能量映射链：</a:t>
                </a:r>
              </a:p>
              <a:p>
                <a:pPr lvl="0" indent="0" marL="0">
                  <a:buNone/>
                </a:pPr>
                <a:r>
                  <a:rPr/>
                  <a:t>$$E_{\bar{\nu}_e} \xrightarrow{\text{kinematics}} E_e \xrightarrow{\text{annihilation}} E_{\rm dep} \xrightarrow{\text{LSNL}} E_{\rm vis} \xrightarrow{\text{resolution}} E_{\rm rec}$$</a:t>
                </a:r>
              </a:p>
              <a:p>
                <a:pPr lvl="0"/>
                <a:r>
                  <a:rPr/>
                  <a:t>能量分辨率经验形式：</a:t>
                </a:r>
              </a:p>
              <a:p>
                <a:pPr lvl="0" indent="0" marL="0">
                  <a:buNone/>
                </a:pPr>
                <a:r>
                  <a:rPr/>
                  <a:t>$$\sigma_{E_{\rm rec}}/E_{\rm vis} = \sqrt{a^2/E_{\rm vis} + b^2 + c^2/E_{\rm vis}^2}$$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反应堆中微子通量预测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第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个堆芯的产额谱：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ϕ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m:t>f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  <m:r>
                                    <m:t>r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r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探测器处的总到达通量：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r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ϕ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E</m:t>
                                  </m:r>
                                </m:e>
                                <m:sub>
                                  <m:sSub>
                                    <m:e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e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num>
                            <m:den>
                              <m:r>
                                <m:t>4</m:t>
                              </m:r>
                              <m:r>
                                <m:t>π</m:t>
                              </m:r>
                              <m:sSubSup>
                                <m:e>
                                  <m:r>
                                    <m:t>L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m:t> 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修正项：Non-Eq（非平衡态）、SNF（乏燃料）</a:t>
                </a:r>
              </a:p>
              <a:p>
                <a:pPr lvl="0"/>
                <a:r>
                  <a:rPr/>
                  <a:t>基准模型：Huber–Müller；扰动比较：summation 法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2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张量化能谱生成链（一）：总览</a:t></a:r></a:p></p:txBody></p:sp><p:sp><p:nvSpPr><p:cNvPr id="4" name="Text Placeholder 3" /><p:cNvSpPr><a:spLocks noGrp="1" /></p:cNvSpPr><p:nvPr><p:ph idx="2" sz="half" type="body" /></p:nvPr></p:nvSpPr><p:spPr /><p:txBody><a:bodyPr /><a:lstStyle /><a:p><a:pPr lvl="0" /><a:r><a:rPr /><a:t>从反应堆出射谱到探测器重建谱的完整物理链 → 表达为四级张量运算</a:t></a:r></a:p><a:p><a:pPr lvl="0" indent="0"><a:buNone /></a:pPr><a:r><a:rPr><a:latin typeface="Courier" /></a:rPr><a:t>   反应堆 Φ_r(E_ν̄,t)              IBD 散射 M_ij              探测器响应 R_ij
[出射谱 + 振荡 + 几何]  ──►  [微分截面 + 角分布]  ──►  [LSNL + 能量分辨]  ──►  φ_rec
       Φ(E_ν̄)                       φ_dep(E_dep)                 φ_vis(E_vis)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:r><a:rPr /><a:t>阶段</a:t></a:r></a:p></a:txBody><a:tcPr /></a:tc><a:tc><a:txBody><a:bodyPr /><a:lstStyle /><a:p><a:pPr lvl="0" indent="0" marL="0"><a:buNone /></a:pPr><a:r><a:rPr /><a:t>物理过程</a:t></a:r></a:p></a:txBody><a:tcPr /></a:tc><a:tc><a:txBody><a:bodyPr /><a:lstStyle /><a:p><a:pPr lvl="0" indent="0" marL="0"><a:buNone /></a:pPr><a:r><a:rPr /><a:t>数学对象</a:t></a:r></a:p></a:txBody><a:tcPr /></a:tc></a:tr><a:tr h="0"><a:tc><a:txBody><a:bodyPr /><a:lstStyle /><a:p><a:pPr lvl="0" indent="0" marL="0"><a:buNone /></a:pPr><a:r><a:rPr /><a:t>① 出射 → 到达</a:t></a:r></a:p></a:txBody></a:tc><a:tc><a:txBody><a:bodyPr /><a:lstStyle /><a:p><a:pPr lvl="0" indent="0" marL="0"><a:buNone /></a:pPr><a:r><a:rPr /><a:t>同位素加权 + 振荡 + 几何衰减</a:t></a:r></a:p></a:txBody></a:tc><a:tc><a:txBody><a:bodyPr /><a:lstStyle /><a:p><a:pPr lvl="0" indent="0" marL="0"><a:buNone /></a:pPr><a:r><a:rPr /><a:t>通量向量 </a:t></a:r><a14:m><m:oMath xmlns:m="http://schemas.openxmlformats.org/officeDocument/2006/math"><m:sSub><m:e><m:r><m:rPr><m:sty m:val="p" /></m:rPr><m:t>Φ</m:t></m:r></m:e><m:sub><m:r><m:t>k</m:t></m:r></m:sub></m:sSub></m:oMath></a14:m></a:p></a:txBody></a:tc></a:tr><a:tr h="0"><a:tc><a:txBody><a:bodyPr /><a:lstStyle /><a:p><a:pPr lvl="0" indent="0" marL="0"><a:buNone /></a:pPr><a:r><a:rPr /><a:t>② 到达 → 沉积</a:t></a:r></a:p></a:txBody></a:tc><a:tc><a:txBody><a:bodyPr /><a:lstStyle /><a:p><a:pPr lvl="0" indent="0" marL="0"><a:buNone /></a:pPr><a:r><a:rPr /><a:t>IBD 微分截面 + 角分布 + 反冲</a:t></a:r></a:p></a:txBody></a:tc><a:tc><a:txBody><a:bodyPr /><a:lstStyle /><a:p><a:pPr lvl="0" indent="0" marL="0"><a:buNone /></a:pPr><a:r><a:rPr b="1" /><a:t>截面矩阵 </a:t></a:r><a14:m><m:oMath xmlns:m="http://schemas.openxmlformats.org/officeDocument/2006/math"><m:sSub><m:e><m:r><m:t>M</m:t></m:r></m:e><m:sub><m:r><m:t>j</m:t></m:r><m:r><m:t>k</m:t></m:r></m:sub></m:sSub></m:oMath></a14:m></a:p></a:txBody></a:tc></a:tr><a:tr h="0"><a:tc><a:txBody><a:bodyPr /><a:lstStyle /><a:p><a:pPr lvl="0" indent="0" marL="0"><a:buNone /></a:pPr><a:r><a:rPr /><a:t>③ 沉积 → 可见</a:t></a:r></a:p></a:txBody></a:tc><a:tc><a:txBody><a:bodyPr /><a:lstStyle /><a:p><a:pPr lvl="0" indent="0" marL="0"><a:buNone /></a:pPr><a:r><a:rPr /><a:t>闪烁体非线性 LSNL</a:t></a:r></a:p></a:txBody></a:tc><a:tc><a:txBody><a:bodyPr /><a:lstStyle /><a:p><a:pPr lvl="0" indent="0" marL="0"><a:buNone /></a:pPr><a:r><a:rPr /><a:t>标量函数 </a:t></a:r><a:r><a:rPr /><a:t>$f_{\rm LSNL}$</a:t></a:r></a:p></a:txBody></a:tc></a:tr><a:tr h="0"><a:tc><a:txBody><a:bodyPr /><a:lstStyle /><a:p><a:pPr lvl="0" indent="0" marL="0"><a:buNone /></a:pPr><a:r><a:rPr /><a:t>④ 可见 → 重建</a:t></a:r></a:p></a:txBody></a:tc><a:tc><a:txBody><a:bodyPr /><a:lstStyle /><a:p><a:pPr lvl="0" indent="0" marL="0"><a:buNone /></a:pPr><a:r><a:rPr /><a:t>能量分辨高斯展宽</a:t></a:r></a:p></a:txBody></a:tc><a:tc><a:txBody><a:bodyPr /><a:lstStyle /><a:p><a:pPr lvl="0" indent="0" marL="0"><a:buNone /></a:pPr><a:r><a:rPr b="1" /><a:t>响应矩阵 </a:t></a:r><a14:m><m:oMath xmlns:m="http://schemas.openxmlformats.org/officeDocument/2006/math"><m:sSub><m:e><m:r><m:t>R</m:t></m:r></m:e><m:sub><m:r><m:t>i</m:t></m:r><m:r><m:t>j</m:t></m:r></m:sub></m:sSub></m:oMath></a14:m></a:p></a:txBody></a:tc></a:tr></a:tbl></a:graphicData></a:graphic></p:graphicFrame></p:spTree></p:cSld>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链式核心公式（③④ 合并入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）：</a:t>
                </a:r>
              </a:p>
              <a:p>
                <a:pPr lvl="0" indent="0" marL="0">
                  <a:buNone/>
                </a:pPr>
                <a:r>
                  <a:rPr/>
                  <a:t>$$\boxed{\;\phi_{\rm rec,i} \;=\; \sum_{j,k} R_{ij}\,M_{jk}\,\Phi_k \;=\; (R\cdot M\cdot\Phi)_i\;}$$</a:t>
                </a:r>
              </a:p>
              <a:p>
                <a:pPr lvl="0"/>
                <a:r>
                  <a:rPr/>
                  <a:t>多重积分卷积 → 三阶张量缩并 → 易并行、易缓存（为第三章加速奠基）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张量化能谱生成链（二）：到达通量 Φ → 沉积能谱（IBD 散射矩阵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）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第①阶段</a:t>
                </a:r>
                <a:r>
                  <a:rPr/>
                  <a:t>：堆芯出射谱 → 探测器到达通量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r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ϕ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E</m:t>
                                  </m:r>
                                </m:e>
                                <m:sub>
                                  <m:sSub>
                                    <m:e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e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num>
                            <m:den>
                              <m:r>
                                <m:t>4</m:t>
                              </m:r>
                              <m:r>
                                <m:t>π</m:t>
                              </m:r>
                              <m:sSubSup>
                                <m:e>
                                  <m:r>
                                    <m:t>L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m:t> 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ν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 b="1"/>
                  <a:t>第②阶段</a:t>
                </a:r>
                <a:r>
                  <a:rPr/>
                  <a:t>：到达通量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Φ</m:t>
                    </m:r>
                  </m:oMath>
                </a14:m>
                <a:r>
                  <a:rPr/>
                  <a:t> 与 IBD 截面卷积 → 沉积能量谱</a:t>
                </a:r>
              </a:p>
              <a:p>
                <a:pPr lvl="0" indent="0" marL="0">
                  <a:buNone/>
                </a:pPr>
                <a:r>
                  <a:rPr/>
                  <a:t>$$\phi_{\rm dep}(E_{\rm dep})=N_p\!\int_{1.8\,\text{MeV}}^{13\,\text{MeV}}\!\!\!\mathrm{d}E_{\bar{\nu}_e}\,\Phi(E_{\bar{\nu}_e})\,\frac{\mathrm{d}\sigma}{\mathrm{d}E_{\rm dep}}(E_{\bar{\nu}_e},E_{\rm dep})$$</a:t>
                </a:r>
              </a:p>
              <a:p>
                <a:pPr lvl="0"/>
                <a:r>
                  <a:rPr b="1"/>
                  <a:t>离散化构造 IBD 微分散射截面矩阵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（双重采样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ν</m:t>
                                </m:r>
                              </m:e>
                            </m:acc>
                          </m:e>
                          <m:sub>
                            <m:r>
                              <m:t>e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θ</m:t>
                    </m:r>
                  </m:oMath>
                </a14:m>
                <a:r>
                  <a:rPr/>
                  <a:t>）：</a:t>
                </a:r>
              </a:p>
              <a:p>
                <a:pPr lvl="0" indent="0" marL="0">
                  <a:buNone/>
                </a:pPr>
                <a:r>
                  <a:rPr/>
                  <a:t>$$M_{ij}=\sum_{k\in\text{samples}}\frac{\mathrm{d}\sigma(E_{\bar{\nu}_e,j},\cos\theta_k)}{\mathrm{d}\cos\theta}\,\Delta\cos\theta\,\mathbf{1}\!\left(E_{\rm dep}(E_{\bar{\nu}_e,j},\cos\theta_k)\in\text{bin}\,i\right)$$</a:t>
                </a:r>
              </a:p>
              <a:p>
                <a:pPr lvl="0"/>
                <a:r>
                  <a:rPr/>
                  <a:t>自然包含：截面能量依赖 + 角分布 + 质子反冲展宽</a:t>
                </a:r>
              </a:p>
              <a:p>
                <a:pPr lvl="0"/>
                <a:r>
                  <a:rPr/>
                  <a:t>模型采用 Vogel–Beacom 一阶修正</a:t>
                </a:r>
              </a:p>
              <a:p>
                <a:pPr lvl="0"/>
                <a:r>
                  <a:rPr b="1"/>
                  <a:t>矩阵–向量映射</a:t>
                </a:r>
                <a:r>
                  <a:rPr/>
                  <a:t>：</a:t>
                </a:r>
                <a:r>
                  <a:rPr/>
                  <a:t>$\;\boldsymbol{\phi}_{\rm dep}=M\,\boldsymbol{\Phi}\;\;\Leftrightarrow\;\;\phi_{{\rm dep},i}=\sum_j M_{ij}\,\Phi_j$</a:t>
                </a:r>
              </a:p>
              <a:p>
                <a:pPr lvl="0"/>
                <a:r>
                  <a:rPr/>
                  <a:t>性质：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在 </a:t>
                </a:r>
                <a:r>
                  <a:rPr/>
                  <a:t>$E_{\rm dep}\!\approx\!E_{\bar{\nu}_e}\!-\!0.8$</a:t>
                </a:r>
                <a:r>
                  <a:rPr/>
                  <a:t> MeV 附近呈</a:t>
                </a:r>
                <a:r>
                  <a:rPr b="1"/>
                  <a:t>带状稀疏</a:t>
                </a:r>
                <a:r>
                  <a:rPr/>
                  <a:t>结构（第三章加速关键）</a:t>
                </a:r>
              </a:p>
            </p:txBody>
          </p:sp>
        </mc:Choice>
      </mc:AlternateContent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张量化能谱生成链（三）：沉积能谱 → 重建能谱（响应矩阵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）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第③阶段</a:t>
                </a:r>
                <a:r>
                  <a:rPr/>
                  <a:t>：闪烁体非线性（LSNL）— 沉积能 → 可见能</a:t>
                </a:r>
              </a:p>
              <a:p>
                <a:pPr lvl="0" indent="0" marL="0">
                  <a:buNone/>
                </a:pPr>
                <a:r>
                  <a:rPr/>
                  <a:t>$$E_{\rm vis}=E_{\rm dep}\,f_{\rm LSNL}(E_{\rm dep})\quad\text{(淬灭 + Cherenkov 等贡献)}$$</a:t>
                </a:r>
              </a:p>
              <a:p>
                <a:pPr lvl="0"/>
                <a:r>
                  <a:rPr b="1"/>
                  <a:t>第④阶段</a:t>
                </a:r>
                <a:r>
                  <a:rPr/>
                  <a:t>：能量分辨高斯展宽 — 可见能 → 重建能</a:t>
                </a:r>
              </a:p>
              <a:p>
                <a:pPr lvl="0" indent="0" marL="0">
                  <a:buNone/>
                </a:pPr>
                <a:r>
                  <a:rPr/>
                  <a:t>$$\sigma_{E_{\rm rec}}/E_{\rm vis}=\sqrt{a^2/E_{\rm vis}+b^2+c^2/E_{\rm vis}^2}$$</a:t>
                </a:r>
              </a:p>
              <a:p>
                <a:pPr lvl="0"/>
                <a:r>
                  <a:rPr b="1"/>
                  <a:t>响应矩阵元由高斯 CDF 差分给出</a:t>
                </a:r>
                <a:r>
                  <a:rPr/>
                  <a:t>：</a:t>
                </a:r>
              </a:p>
              <a:p>
                <a:pPr lvl="0" indent="0" marL="0">
                  <a:buNone/>
                </a:pPr>
                <a:r>
                  <a:rPr/>
                  <a:t>$$R_{ij}=\Phi_{\rm CDF}\!\left(E_{\rm rec}^{(i+1)}\,\big|\,E_{\rm dep}^{(j)}\right)-\Phi_{\rm CDF}\!\left(E_{\rm rec}^{(i)}\,\big|\,E_{\rm dep}^{(j)}\right),\quad \Phi_{\rm CDF}(x)=\tfrac{1}{2}\!\left[1+\operatorname{erf}\!\left(\tfrac{x-E_{\rm vis}}{\sqrt{2}\,\sigma}\right)\right]$$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同时编码 LSNL 引起的均值漂移 + 能量分辨引起的展宽</a:t>
                </a:r>
              </a:p>
              <a:p>
                <a:pPr lvl="0"/>
                <a:r>
                  <a:rPr b="1"/>
                  <a:t>矩阵–向量映射</a:t>
                </a:r>
                <a:r>
                  <a:rPr/>
                  <a:t>：</a:t>
                </a:r>
                <a:r>
                  <a:rPr/>
                  <a:t>$\;\boldsymbol{\phi}_{\rm rec}=R\,\boldsymbol{\phi}_{\rm dep}\;\;\Leftrightarrow\;\;\phi_{{\rm rec},i}=\sum_j R_{ij}\,\phi_{{\rm dep},j}$</a:t>
                </a:r>
              </a:p>
              <a:p>
                <a:pPr lvl="0"/>
                <a:r>
                  <a:rPr b="1"/>
                  <a:t>完整链合成</a:t>
                </a:r>
                <a:r>
                  <a:rPr/>
                  <a:t>：</a:t>
                </a:r>
                <a:r>
                  <a:rPr/>
                  <a:t>$\;\phi_{{\rm rec},i}=\sum_{j,k} R_{ij}\,M_{jk}\,\Phi_k\;\to\;$</a:t>
                </a:r>
                <a:r>
                  <a:rPr/>
                  <a:t> 即可与观测分箱能谱直接比较</a:t>
                </a:r>
              </a:p>
              <a:p>
                <a:pPr lvl="0"/>
                <a:r>
                  <a:rPr/>
                  <a:t>计算瓶颈：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erf</m:t>
                    </m:r>
                  </m:oMath>
                </a14:m>
                <a:r>
                  <a:rPr/>
                  <a:t> 批量评估 + 大尺寸矩阵乘 → 第三章三类优化的直接对象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沉积能谱 → 重建能谱：积分公式与响应矩阵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连续形式（卷积积分）</a:t>
                </a:r>
                <a:r>
                  <a:rPr/>
                  <a:t>：沉积谱与高斯响应函数的能量空间卷积</a:t>
                </a:r>
              </a:p>
              <a:p>
                <a:pPr lvl="0" indent="0" marL="0">
                  <a:buNone/>
                </a:pPr>
                <a:r>
                  <a:rPr/>
                  <a:t>$$\phi_{\rm rec}(E_{\rm rec})=\int_{E_{\rm dep}^{\min}}^{E_{\rm dep}^{\max}}\!\!\mathrm{d}E_{\rm dep}\;\phi_{\rm dep}(E_{\rm dep})\;G\!\bigl(E_{\rm rec}\,\big|\,E_{\rm dep}\bigr)$$</a:t>
                </a:r>
              </a:p>
              <a:p>
                <a:pPr lvl="0"/>
                <a:r>
                  <a:rPr/>
                  <a:t>LSNL 映射：</a:t>
                </a:r>
                <a:r>
                  <a:rPr/>
                  <a:t>$E_{\rm vis}(E_{\rm dep})=E_{\rm dep}\,f_{\rm LSNL}(E_{\rm dep})$</a:t>
                </a:r>
              </a:p>
              <a:p>
                <a:pPr lvl="0"/>
                <a:r>
                  <a:rPr/>
                  <a:t>高斯核：</a:t>
                </a:r>
                <a:r>
                  <a:rPr/>
                  <a:t>$\;G\!\bigl(E_{\rm rec}\,\big|\,E_{\rm dep}\bigr)=\dfrac{1}{\sqrt{2\pi}\,\sigma(E_{\rm vis})}\exp\!\left[-\dfrac{(E_{\rm rec}-E_{\rm vis})^2}{2\sigma^2(E_{\rm vis})}\right]$</a:t>
                </a:r>
              </a:p>
              <a:p>
                <a:pPr lvl="0"/>
                <a:r>
                  <a:rPr b="1"/>
                  <a:t>离散化构造响应矩阵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：</a:t>
                </a:r>
                <a:r>
                  <a:rPr/>
                  <a:t>$E_{\rm dep}\to j$</a:t>
                </a:r>
                <a:r>
                  <a:rPr/>
                  <a:t> bin，</a:t>
                </a:r>
                <a:r>
                  <a:rPr/>
                  <a:t>$E_{\rm rec}\to i$</a:t>
                </a:r>
                <a:r>
                  <a:rPr/>
                  <a:t> bin，由高斯 CDF 差分给出</a:t>
                </a:r>
              </a:p>
              <a:p>
                <a:pPr lvl="0" indent="0" marL="0">
                  <a:buNone/>
                </a:pPr>
                <a:r>
                  <a:rPr/>
                  <a:t>$$R_{ij}=\int_{E_{\rm rec}^{(i)}}^{E_{\rm rec}^{(i+1)}}\!\!G\!\bigl(E_{\rm rec}\,\big|\,E_{\rm dep}^{(j)}\bigr)\,\mathrm{d}E_{\rm rec}=\frac{1}{2}\!\left[\operatorname{erf}\!\left(\frac{E_{\rm rec}^{(i+1)}-E_{\rm vis}^{(j)}}{\sqrt{2}\,\sigma^{(j)}}\right)-\operatorname{erf}\!\left(\frac{E_{\rm rec}^{(i)}-E_{\rm vis}^{(j)}}{\sqrt{2}\,\sigma^{(j)}}\right)\right]$$</a:t>
                </a:r>
              </a:p>
              <a:p>
                <a:pPr lvl="0"/>
                <a:r>
                  <a:rPr/>
                  <a:t>$E_{\rm vis}^{(j)}=E_{\rm dep}^{(j)}f_{\rm LSNL}(E_{\rm dep}^{(j)})$</a:t>
                </a:r>
                <a:r>
                  <a:rPr/>
                  <a:t>，</a:t>
                </a:r>
                <a:r>
                  <a:rPr/>
                  <a:t>$\sigma^{(j)}=\sigma(E_{\rm vis}^{(j)})$</a:t>
                </a:r>
              </a:p>
              <a:p>
                <a:pPr lvl="0"/>
                <a:r>
                  <a:rPr/>
                  <a:t>同时编码 </a:t>
                </a:r>
                <a:r>
                  <a:rPr b="1"/>
                  <a:t>均值漂移</a:t>
                </a:r>
                <a:r>
                  <a:rPr/>
                  <a:t>（LSNL）与 </a:t>
                </a:r>
                <a:r>
                  <a:rPr b="1"/>
                  <a:t>展宽</a:t>
                </a:r>
                <a:r>
                  <a:rPr/>
                  <a:t>（能量分辨）</a:t>
                </a:r>
              </a:p>
              <a:p>
                <a:pPr lvl="0"/>
                <a:r>
                  <a:rPr b="1"/>
                  <a:t>矩阵–向量映射（连续积分的离散对应）</a:t>
                </a:r>
                <a:r>
                  <a:rPr/>
                  <a:t>：</a:t>
                </a:r>
              </a:p>
              <a:p>
                <a:pPr lvl="0" indent="0" marL="0">
                  <a:buNone/>
                </a:pPr>
                <a:r>
                  <a:rPr/>
                  <a:t>$$\phi_{{\rm rec},i}=\sum_j R_{ij}\,\phi_{{\rm dep},j}\quad\Longleftrightarrow\quad \boldsymbol{\phi}_{\rm rec}=R\,\boldsymbol{\phi}_{\rm dep}$$</a:t>
                </a:r>
              </a:p>
              <a:p>
                <a:pPr lvl="0"/>
                <a:r>
                  <a:rPr b="1"/>
                  <a:t>与上游链合成</a:t>
                </a:r>
                <a:r>
                  <a:rPr/>
                  <a:t>：</a:t>
                </a:r>
                <a:r>
                  <a:rPr/>
                  <a:t>$\;\boldsymbol{\phi}_{\rm rec}=R\!\cdot\!M\!\cdot\!\boldsymbol{\Phi}\;\Leftrightarrow\;\phi_{{\rm rec},i}=\sum_{j,k}R_{ij}\,M_{jk}\,\Phi_k$</a:t>
                </a:r>
              </a:p>
            </p:txBody>
          </p:sp>
        </mc:Choice>
      </mc:AlternateContent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拟合与 Pull terms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χ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M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bi"/>
                        </m:rP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θ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bi"/>
                        </m:rPr>
                        <m:t>α</m:t>
                      </m:r>
                      <m:r>
                        <m:rPr>
                          <m:sty m:val="p"/>
                        </m:rPr>
                        <m:t>)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t> 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r>
                        <m:t> 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M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bi"/>
                        </m:rP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θ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bi"/>
                        </m:rPr>
                        <m:t>α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sSub>
                                        <m:e>
                                          <m:r>
                                            <m:t>α</m:t>
                                          </m:r>
                                        </m:e>
                                        <m:sub>
                                          <m:r>
                                            <m:t>k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e>
                                          <m: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m:t>k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  <a:p>
                <a:pPr lvl="0"/>
                <a:r>
                  <a:rPr/>
                  <a:t>CNP 统计方差组合（消除 Neyman/Pearson 偏差）：</a:t>
                </a:r>
              </a:p>
              <a:p>
                <a:pPr lvl="0" indent="0" marL="0">
                  <a:buNone/>
                </a:pPr>
                <a:r>
                  <a:rPr/>
                  <a:t>$$V_{ii}^{\rm stat} \equiv 3\left(\frac{1}{M_i}+\frac{2}{T_i^{\rm IBD}+\sum_B T_i^B}\right)^{-1}$$</a:t>
                </a:r>
              </a:p>
              <a:p>
                <a:pPr lvl="0"/>
                <a:r>
                  <a:rPr/>
                  <a:t>Pull terms 涵盖：反应堆通量、能量响应、本底、SNF/Non-Eq、地球物质效应等</a:t>
                </a:r>
              </a:p>
              <a:p>
                <a:pPr lvl="0"/>
                <a:r>
                  <a:rPr/>
                  <a:t>最小化器：iminuit (MIGRAD)</a:t>
                </a:r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中微子振荡分析方法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Wilks 定理与 FC 方法的角色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Wilks 定理</a:t>
                </a:r>
                <a:r>
                  <a:rPr/>
                  <a:t>：渐近条件下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服从卡方分布，可用固定阈值构造置信区间</a:t>
                </a:r>
              </a:p>
              <a:p>
                <a:pPr lvl="0"/>
                <a:r>
                  <a:rPr b="1"/>
                  <a:t>失效条件</a:t>
                </a:r>
                <a:r>
                  <a:rPr/>
                  <a:t>：参数边界、似然面非二次型、多重极小、低统计量</a:t>
                </a:r>
              </a:p>
              <a:p>
                <a:pPr lvl="0"/>
                <a:r>
                  <a:rPr b="1"/>
                  <a:t>Feldman–Cousins 方法</a:t>
                </a:r>
                <a:r>
                  <a:rPr/>
                  <a:t>：通过 Toy-MC 经验分布给出参数依赖的临界值</a:t>
                </a:r>
              </a:p>
              <a:p>
                <a:pPr lvl="0"/>
                <a:r>
                  <a:rPr/>
                  <a:t>代价：需要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m:t>∼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6</m:t>
                        </m:r>
                      </m:sup>
                    </m:sSup>
                  </m:oMath>
                </a14:m>
                <a:r>
                  <a:rPr/>
                  <a:t> 量级的伪实验拟合 → 强烈呼唤拟合加速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第二章 本章小结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主要结论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完整张量化能谱生成链</a:t>
                </a:r>
                <a:r>
                  <a:rPr/>
                  <a:t>：</a:t>
                </a:r>
                <a:r>
                  <a:rPr/>
                  <a:t>$\;\Phi\;\xrightarrow{M}\;\phi_{\rm dep}\;\xrightarrow{R}\;\phi_{\rm rec}\;$</a:t>
                </a:r>
              </a:p>
              <a:p>
                <a:pPr lvl="1"/>
                <a:r>
                  <a:rPr/>
                  <a:t>第①层 反应堆通量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Φ</m:t>
                    </m:r>
                  </m:oMath>
                </a14:m>
                <a:r>
                  <a:rPr/>
                  <a:t>：堆芯加权 + 振荡 + 几何衰减 + Non-Eq/SNF 修正</a:t>
                </a:r>
              </a:p>
              <a:p>
                <a:pPr lvl="1"/>
                <a:r>
                  <a:rPr/>
                  <a:t>第②层 IBD 微分散射截面矩阵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：含截面、角分布与反冲展宽，呈</a:t>
                </a:r>
                <a:r>
                  <a:rPr b="1"/>
                  <a:t>带状稀疏</a:t>
                </a:r>
              </a:p>
              <a:p>
                <a:pPr lvl="1"/>
                <a:r>
                  <a:rPr/>
                  <a:t>第③层 探测器响应矩阵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：合 LSNL 与高斯能量分辨于同一 CDF-差分构造</a:t>
                </a:r>
              </a:p>
              <a:p>
                <a:pPr lvl="1"/>
                <a:r>
                  <a:rPr/>
                  <a:t>合成核心公式：</a:t>
                </a:r>
                <a:r>
                  <a:rPr/>
                  <a:t>$\phi_{{\rm rec},i}=\sum_{j,k}R_{ij}\,M_{jk}\,\Phi_k$</a:t>
                </a:r>
              </a:p>
              <a:p>
                <a:pPr lvl="0"/>
                <a:r>
                  <a:rPr/>
                  <a:t>多重积分卷积 → </a:t>
                </a:r>
                <a:r>
                  <a:rPr b="1"/>
                  <a:t>高维矩阵/张量缩并</a:t>
                </a:r>
                <a:r>
                  <a:rPr/>
                  <a:t> → 易并行、易缓存，为第三章加速奠定数据结构基础</a:t>
                </a:r>
              </a:p>
              <a:p>
                <a:pPr lvl="0"/>
                <a:r>
                  <a:rPr/>
                  <a:t>构建了含 </a:t>
                </a:r>
                <a:r>
                  <a:rPr b="1"/>
                  <a:t>Pull terms 与 CNP 统计组合</a:t>
                </a:r>
                <a:r>
                  <a:rPr/>
                  <a:t>的 </a:t>
                </a:r>
                <a14:m>
                  <m:oMath xmlns:m="http://schemas.openxmlformats.org/officeDocument/2006/math"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拟合框架，自洽吸纳反应堆、探测器、本底等多源系统不确定性</a:t>
                </a:r>
              </a:p>
              <a:p>
                <a:pPr lvl="0"/>
                <a:r>
                  <a:rPr/>
                  <a:t>系统梳理了 </a:t>
                </a:r>
                <a:r>
                  <a:rPr b="1"/>
                  <a:t>Wilks 定理的失效情形</a:t>
                </a:r>
                <a:r>
                  <a:rPr/>
                  <a:t>，明确了在低统计量、非正则似然面下必须引入 Feldman–Cousins 方法</a:t>
                </a:r>
              </a:p>
              <a:p>
                <a:pPr lvl="0"/>
                <a:r>
                  <a:rPr/>
                  <a:t>给出 Toy-MC 标准生成策略，为后续分 bin 策略与覆盖性研究提供统一接口</a:t>
                </a:r>
              </a:p>
            </p:txBody>
          </p:sp>
        </mc:Choice>
      </mc:AlternateContent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第三章 反应堆能谱拟合程序的加速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加速的迫切性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FC 覆盖率检验 + 多起点扫描 → 计算量爆炸</a:t>
                </a:r>
              </a:p>
              <a:p>
                <a:pPr lvl="0"/>
                <a:r>
                  <a:rPr/>
                  <a:t>典型规模：</a:t>
                </a:r>
              </a:p>
              <a:p>
                <a:pPr lvl="0" indent="0" marL="0">
                  <a:buNone/>
                </a:pPr>
                <a:r>
                  <a:rPr/>
                  <a:t>$$N_{\rm fits} = N_{\rm pts} \times N_{\rm toys} \times N_{\rm init} = 50 \times 5000 \times 20 = 5\times10^6$$</a:t>
                </a:r>
              </a:p>
              <a:p>
                <a:pPr lvl="0"/>
                <a:r>
                  <a:rPr/>
                  <a:t>单次拟合 ~150 s → 总计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</m:oMath>
                </a14:m>
                <a:r>
                  <a:rPr/>
                  <a:t> CPU·h</a:t>
                </a:r>
              </a:p>
              <a:p>
                <a:pPr lvl="0"/>
                <a:r>
                  <a:rPr/>
                  <a:t>即便 1000 核集群仍需 ~200 小时</a:t>
                </a:r>
              </a:p>
              <a:p>
                <a:pPr lvl="0"/>
                <a:r>
                  <a:rPr b="1"/>
                  <a:t>结论</a:t>
                </a:r>
                <a:r>
                  <a:rPr/>
                  <a:t>：必须从算法与工程层面系统加速</a:t>
                </a:r>
              </a:p>
            </p:txBody>
          </p:sp>
        </mc:Choice>
      </mc:AlternateContent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第三章 反应堆能谱拟合程序的加速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性能瓶颈分析（Profiling）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谱计算 ≈ </a:t>
            </a:r>
            <a:r>
              <a:rPr b="1"/>
              <a:t>98.6%</a:t>
            </a:r>
            <a:r>
              <a:rPr/>
              <a:t>（~108.6 s）</a:t>
            </a:r>
          </a:p>
          <a:p>
            <a:pPr lvl="0"/>
            <a:r>
              <a:rPr/>
              <a:t>最小化器仅 </a:t>
            </a:r>
            <a:r>
              <a:rPr baseline="-25000"/>
              <a:t>1.4%（</a:t>
            </a:r>
            <a:r>
              <a:rPr/>
              <a:t>1.5 s）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谱计算内部两大热点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探测器响应矩阵构造</a:t>
                </a:r>
                <a:r>
                  <a:rPr/>
                  <a:t>：~72.4 s（66.7%）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erf</m:t>
                    </m:r>
                  </m:oMath>
                </a14:m>
                <a:r>
                  <a:rPr/>
                  <a:t> 批量评估</a:t>
                </a:r>
              </a:p>
              <a:p>
                <a:pPr lvl="1"/>
                <a14:m>
                  <m:oMath xmlns:m="http://schemas.openxmlformats.org/officeDocument/2006/math">
                    <m:r>
                      <m:t>560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5600</m:t>
                    </m:r>
                  </m:oMath>
                </a14:m>
                <a:r>
                  <a:rPr/>
                  <a:t> 阵列减/除运算</a:t>
                </a:r>
              </a:p>
              <a:p>
                <a:pPr lvl="0"/>
                <a:r>
                  <a:rPr b="1"/>
                  <a:t>沉积能谱计算</a:t>
                </a:r>
                <a:r>
                  <a:rPr/>
                  <a:t>：~33.4 s（30.8%）</a:t>
                </a:r>
              </a:p>
              <a:p>
                <a:pPr lvl="1"/>
                <a14:m>
                  <m:oMath xmlns:m="http://schemas.openxmlformats.org/officeDocument/2006/math">
                    <m:r>
                      <m:t>5600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5600</m:t>
                    </m:r>
                  </m:oMath>
                </a14:m>
                <a:r>
                  <a:rPr/>
                  <a:t> 密集矩阵乘法</a:t>
                </a:r>
              </a:p>
            </p:txBody>
          </p:sp>
        </mc:Choice>
      </mc:AlternateContent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第三章 反应堆能谱拟合程序的加速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三大优化策略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缓存技术（Caching）</a:t>
                </a:r>
              </a:p>
              <a:p>
                <a:pPr lvl="1"/>
                <a:r>
                  <a:rPr/>
                  <a:t>静态量预计算常驻内存</a:t>
                </a:r>
              </a:p>
              <a:p>
                <a:pPr lvl="1"/>
                <a:r>
                  <a:rPr/>
                  <a:t>函数级 memoization（</a:t>
                </a:r>
                <a:r>
                  <a:rPr>
                    <a:latin typeface="Courier"/>
                  </a:rPr>
                  <a:t>lru_cache</a:t>
                </a:r>
                <a:r>
                  <a:rPr/>
                  <a:t>）</a:t>
                </a:r>
              </a:p>
              <a:p>
                <a:pPr lvl="0"/>
                <a:r>
                  <a:rPr b="1"/>
                  <a:t>稀疏矩阵存储</a:t>
                </a:r>
              </a:p>
              <a:p>
                <a:pPr lvl="1"/>
                <a:r>
                  <a:rPr/>
                  <a:t>IBD 微分散射截面矩阵呈带状结构</a:t>
                </a:r>
              </a:p>
              <a:p>
                <a:pPr lvl="1"/>
                <a:r>
                  <a:rPr/>
                  <a:t>$E_{\rm dep,i} \approx E_{\bar{\nu}_e,j} - 0.8~\mathrm{MeV}$</a:t>
                </a:r>
              </a:p>
              <a:p>
                <a:pPr lvl="1"/>
                <a:r>
                  <a:rPr/>
                  <a:t>复杂度由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降至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t>w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 b="1"/>
                  <a:t>分块张量化构造</a:t>
                </a:r>
              </a:p>
              <a:p>
                <a:pPr lvl="1"/>
                <a:r>
                  <a:rPr/>
                  <a:t>响应矩阵按列分块（block width = 512）</a:t>
                </a:r>
              </a:p>
              <a:p>
                <a:pPr lvl="1"/>
                <a:r>
                  <a:rPr/>
                  <a:t>充分利用 L1 cache 局部性</a:t>
                </a:r>
              </a:p>
            </p:txBody>
          </p:sp>
        </mc:Choice>
      </mc:AlternateContent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第三章 反应堆能谱拟合程序的加速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基准测试结果（Intel Xeon Gold 6338）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优化策略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加速比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缓存（Caching）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~3×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稀疏矩阵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~1.5×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分块构造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~1.5×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综合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~7×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单次拟合：</a:t>
                </a:r>
                <a:r>
                  <a:rPr b="1"/>
                  <a:t>110.1 s → 15.2 s</a:t>
                </a:r>
              </a:p>
              <a:p>
                <a:pPr lvl="0"/>
                <a:r>
                  <a:rPr/>
                  <a:t>谱计算：108.6 s → 14.3 s（~8×）</a:t>
                </a:r>
              </a:p>
              <a:p>
                <a:pPr lvl="0"/>
                <a:r>
                  <a:rPr/>
                  <a:t>响应矩阵：72.4 s → 8.1 s（~9×）</a:t>
                </a:r>
              </a:p>
              <a:p>
                <a:pPr lvl="0"/>
                <a:r>
                  <a:rPr/>
                  <a:t>数值相对误差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</m:sup>
                    </m:sSup>
                  </m:oMath>
                </a14:m>
                <a:r>
                  <a:rPr/>
                  <a:t>（双精度基准）</a:t>
                </a:r>
              </a:p>
            </p:txBody>
          </p:sp>
        </mc:Choice>
      </mc:AlternateContent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第三章 反应堆能谱拟合程序的加速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数值稳定性与可迁移性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统计量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Toy 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成功率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99.18%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99.85%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100.00%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框架核心组件（张量化前向折叠、稀疏化、分块、缓存）不依赖 JUNO 特定几何</a:t>
                </a:r>
              </a:p>
              <a:p>
                <a:pPr lvl="0"/>
                <a:r>
                  <a:rPr/>
                  <a:t>可直接迁移：TAO 谱拟合、Daya Bay 惰性中微子搜索、Geo-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、超新星预警、JUNO–DUNE 联合分析</a:t>
                </a:r>
              </a:p>
            </p:txBody>
          </p:sp>
        </mc:Choice>
      </mc:AlternateContent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第三章 本章小结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主要结论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量化了 FC 覆盖率检验的计算挑战：原始方案需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</m:oMath>
                </a14:m>
                <a:r>
                  <a:rPr/>
                  <a:t> CPU·h，传统串行实现不可行</a:t>
                </a:r>
              </a:p>
              <a:p>
                <a:pPr lvl="0"/>
                <a:r>
                  <a:rPr/>
                  <a:t>通过 Profiling 锁定两大瓶颈：</a:t>
                </a:r>
                <a:r>
                  <a:rPr b="1"/>
                  <a:t>探测器响应矩阵构造（66.7%）+ 沉积能谱计算（30.8%）</a:t>
                </a:r>
              </a:p>
              <a:p>
                <a:pPr lvl="0"/>
                <a:r>
                  <a:rPr/>
                  <a:t>提出三类互补优化策略 — </a:t>
                </a:r>
                <a:r>
                  <a:rPr b="1"/>
                  <a:t>缓存（~3×）+ 稀疏矩阵（~1.5×）+ 分块构造（~1.5×）</a:t>
                </a:r>
              </a:p>
              <a:p>
                <a:pPr lvl="0"/>
                <a:r>
                  <a:rPr/>
                  <a:t>综合加速比 </a:t>
                </a:r>
                <a:r>
                  <a:rPr b="1"/>
                  <a:t>~7×</a:t>
                </a:r>
                <a:r>
                  <a:rPr/>
                  <a:t>：单次拟合时间从 110.1 s → 15.2 s，且数值相对误差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</m:sup>
                    </m:sSup>
                  </m:oMath>
                </a14:m>
              </a:p>
              <a:p>
                <a:pPr lvl="0"/>
                <a:r>
                  <a:rPr/>
                  <a:t>框架在 30/50/100 天统计量下的拟合成功率均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  <m:r>
                      <m:t>99.18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，具有良好的数值稳定性</a:t>
                </a:r>
              </a:p>
              <a:p>
                <a:pPr lvl="0"/>
                <a:r>
                  <a:rPr/>
                  <a:t>已发表于 </a:t>
                </a:r>
                <a:r>
                  <a:rPr b="1"/>
                  <a:t>Eur. Phys. J. C (2025)</a:t>
                </a:r>
                <a:r>
                  <a:rPr/>
                  <a:t>，并被 JUNO 合作组采纳为基础分析工具</a:t>
                </a:r>
              </a:p>
              <a:p>
                <a:pPr lvl="0"/>
                <a:r>
                  <a:rPr b="1"/>
                  <a:t>使大规模 Feldman–Cousins 覆盖性研究在有限算力下成为现实</a:t>
                </a:r>
              </a:p>
            </p:txBody>
          </p:sp>
        </mc:Choice>
      </mc:AlternateContent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第四章 JUNO 实验能谱分 bin 策略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分箱策略的两个维度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重建能谱分 bin（Binning）</a:t>
            </a:r>
          </a:p>
          <a:p>
            <a:pPr lvl="1"/>
            <a:r>
              <a:rPr/>
              <a:t>决定观测统计量与似然近似有效性</a:t>
            </a:r>
          </a:p>
          <a:p>
            <a:pPr lvl="1"/>
            <a:r>
              <a:rPr/>
              <a:t>过细 → 高斯近似失效 → 拟合偏差</a:t>
            </a:r>
          </a:p>
          <a:p>
            <a:pPr lvl="0"/>
            <a:r>
              <a:rPr b="1"/>
              <a:t>反应堆能谱分段（Segmentation）</a:t>
            </a:r>
          </a:p>
          <a:p>
            <a:pPr lvl="1"/>
            <a:r>
              <a:rPr/>
              <a:t>决定模型依赖性与外部约束有效性</a:t>
            </a:r>
          </a:p>
          <a:p>
            <a:pPr lvl="1"/>
            <a:r>
              <a:rPr/>
              <a:t>过细 → 超出 Daya Bay 分辨能力 → 非物理 Wiggle</a:t>
            </a:r>
          </a:p>
          <a:p>
            <a:pPr lvl="0"/>
            <a:r>
              <a:rPr b="1"/>
              <a:t>核心矛盾</a:t>
            </a:r>
            <a:r>
              <a:rPr/>
              <a:t>：保留谱形细节 vs 避免近似失效与模型依赖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第四章 JUNO 实验能谱分 bin 策略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偏差度量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统计偏差定义：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Bias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⟨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⟩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θ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true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68</m:t>
                              </m:r>
                              <m:r>
                                <m:rPr>
                                  <m:sty m:val="p"/>
                                </m:rPr>
                                <m:t>%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基于 5000 次 Toy-MC 最佳拟合分布</a:t>
                </a:r>
              </a:p>
              <a:p>
                <a:pPr lvl="0"/>
                <a:r>
                  <a:rPr/>
                  <a:t>采用对称分位数法：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68</m:t>
                          </m:r>
                          <m:r>
                            <m:rPr>
                              <m:sty m:val="p"/>
                            </m:rPr>
                            <m:t>%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84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16</m:t>
                              </m:r>
                            </m:sub>
                          </m:sSub>
                        </m:num>
                        <m:den>
                          <m:r>
                            <m:t>2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不依赖正态性假设，可反映非对称分布特征</a:t>
                </a:r>
              </a:p>
            </p:txBody>
          </p:sp>
        </mc:Choice>
      </mc:AlternateContent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第四章 JUNO 实验能谱分 bin 策略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重建能谱分 bin 研究（30 天统计量）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：所有统计量下偏差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0.1</m:t>
                    </m:r>
                    <m:r>
                      <m:t>σ</m:t>
                    </m:r>
                  </m:oMath>
                </a14:m>
                <a:r>
                  <a:rPr/>
                  <a:t>（频率类参数）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：低统计量下显著偏差（幅度类参数）</a:t>
                </a:r>
              </a:p>
              <a:p>
                <a:pPr lvl="1"/>
                <a:r>
                  <a:rPr/>
                  <a:t>560 bins (20 keV) → ~0.8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a:p>
              <a:p>
                <a:pPr lvl="1"/>
                <a:r>
                  <a:rPr/>
                  <a:t>80 bins (~150 keV) → 显著降低</a:t>
                </a:r>
              </a:p>
              <a:p>
                <a:pPr lvl="1"/>
                <a:r>
                  <a:rPr/>
                  <a:t>56 bins (~200 keV) → &lt; 0.2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a:p>
              <a:p>
                <a:pPr lvl="0"/>
                <a:r>
                  <a:rPr b="1"/>
                  <a:t>结论</a:t>
                </a:r>
                <a:r>
                  <a:rPr/>
                  <a:t>：bin 宽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  <m:r>
                      <m:t>100</m:t>
                    </m:r>
                    <m:r>
                      <m:t> </m:t>
                    </m:r>
                    <m:r>
                      <m:rPr>
                        <m:sty m:val="p"/>
                      </m:rPr>
                      <m:t>k</m:t>
                    </m:r>
                    <m:r>
                      <m:rPr>
                        <m:sty m:val="p"/>
                      </m:rPr>
                      <m:t>e</m:t>
                    </m:r>
                    <m:r>
                      <m:rPr>
                        <m:sty m:val="p"/>
                      </m:rPr>
                      <m:t>V</m:t>
                    </m:r>
                  </m:oMath>
                </a14:m>
                <a:r>
                  <a:rPr/>
                  <a:t> 时偏差可接受</a:t>
                </a:r>
              </a:p>
            </p:txBody>
          </p:sp>
        </mc:Choice>
      </mc:AlternateContent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第四章 JUNO 实验能谱分 bin 策略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JUNO–Daya Bay 联合分析框架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联合目标函数：</a:t>
                </a:r>
              </a:p>
              <a:p>
                <a:pPr lvl="0" indent="0" marL="0">
                  <a:buNone/>
                </a:pPr>
                <a:r>
                  <a:rPr/>
                  <a:t>$$\chi^2_{\rm Total} = \chi^2_{\rm JUNO} + \chi^2_{\rm DYB} + \text{(外部先验)}$$</a:t>
                </a:r>
              </a:p>
              <a:p>
                <a:pPr lvl="0"/>
                <a:r>
                  <a:rPr/>
                  <a:t>反应堆能谱分段：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≈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α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“段内刚性、段间自由”：用 DYB 高统计量锚定局部谱形</a:t>
                </a:r>
              </a:p>
              <a:p>
                <a:pPr lvl="0"/>
                <a:r>
                  <a:rPr/>
                  <a:t>关键挑战：Wiggle 结构 — DYB 能量分辨率有限，过细分段引入伪结构</a:t>
                </a:r>
              </a:p>
            </p:txBody>
          </p:sp>
        </mc:Choice>
      </mc:AlternateContent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第四章 JUNO 实验能谱分 bin 策略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最优段宽 Toy-MC 研究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固定模型</a:t>
                </a:r>
                <a:r>
                  <a:rPr/>
                  <a:t>：使用名义 Summation 谱，评估方法本身行为</a:t>
                </a:r>
              </a:p>
              <a:p>
                <a:pPr lvl="0"/>
                <a:r>
                  <a:rPr b="1"/>
                  <a:t>扰动模型</a:t>
                </a:r>
                <a:r>
                  <a:rPr/>
                  <a:t>：bootstrap 重抽样 ~90%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衰变支级 + 分支比/裂变份额扰动</a:t>
                </a:r>
              </a:p>
              <a:p>
                <a:pPr lvl="0"/>
                <a:r>
                  <a:rPr/>
                  <a:t>比较各候选段宽下的振荡参数精度</a:t>
                </a:r>
              </a:p>
            </p:txBody>
          </p:sp>
        </mc:Choice>
      </mc:AlternateContent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最优结论：300 keV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模型相关附加系统误差 </a:t>
                </a:r>
                <a:r>
                  <a:rPr b="1"/>
                  <a:t>最小（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 b="1"/>
                  <a:t>）</a:t>
                </a:r>
              </a:p>
              <a:p>
                <a:pPr lvl="0"/>
                <a:r>
                  <a:rPr/>
                  <a:t>抑制 Wiggle 结构 + 保持充分统计约束的最佳折中</a:t>
                </a:r>
              </a:p>
              <a:p>
                <a:pPr lvl="0"/>
                <a:r>
                  <a:rPr b="1"/>
                  <a:t>已被 JUNO 合作组采纳并用于首篇物理结果论文</a:t>
                </a:r>
              </a:p>
            </p:txBody>
          </p:sp>
        </mc:Choice>
      </mc:AlternateContent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第四章 本章小结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主要结论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揭示了分箱策略的双维度本质：</a:t>
                </a:r>
                <a:r>
                  <a:rPr b="1"/>
                  <a:t>重建能谱分 bin 控制统计近似有效性</a:t>
                </a:r>
                <a:r>
                  <a:rPr/>
                  <a:t>，</a:t>
                </a:r>
                <a:r>
                  <a:rPr b="1"/>
                  <a:t>反应堆能谱分段控制模型依赖性</a:t>
                </a:r>
              </a:p>
              <a:p>
                <a:pPr lvl="0"/>
                <a:r>
                  <a:rPr b="1"/>
                  <a:t>重建能谱分 bin 结论</a:t>
                </a:r>
                <a:r>
                  <a:rPr/>
                  <a:t>：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对分 bin 不敏感，偏差始终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0.1</m:t>
                    </m:r>
                    <m:r>
                      <m:t>σ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 在 30 天统计量、20 keV 细分时偏差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0.8</m:t>
                    </m:r>
                    <m:r>
                      <m:t>σ</m:t>
                    </m:r>
                  </m:oMath>
                </a14:m>
              </a:p>
              <a:p>
                <a:pPr lvl="1"/>
                <a:r>
                  <a:rPr/>
                  <a:t>bin 宽增至 </a:t>
                </a:r>
                <a:r>
                  <a:rPr b="1"/>
                  <a:t>100 keV 及以上</a:t>
                </a:r>
                <a:r>
                  <a:rPr/>
                  <a:t>时偏差可被压低至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0.2</m:t>
                    </m:r>
                    <m:r>
                      <m:t>σ</m:t>
                    </m:r>
                  </m:oMath>
                </a14:m>
              </a:p>
              <a:p>
                <a:pPr lvl="0"/>
                <a:r>
                  <a:rPr b="1"/>
                  <a:t>反应堆能谱分段结论</a:t>
                </a:r>
                <a:r>
                  <a:rPr/>
                  <a:t>：</a:t>
                </a:r>
              </a:p>
              <a:p>
                <a:pPr lvl="1"/>
                <a:r>
                  <a:rPr/>
                  <a:t>段宽过细诱导 Wiggle，段宽过粗增强模型依赖</a:t>
                </a:r>
              </a:p>
              <a:p>
                <a:pPr lvl="1"/>
                <a:r>
                  <a:rPr/>
                  <a:t>最优段宽 </a:t>
                </a:r>
                <a:r>
                  <a:rPr b="1"/>
                  <a:t>~300 keV</a:t>
                </a:r>
                <a:r>
                  <a:rPr/>
                  <a:t>，模型相关系统误差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</a:p>
              <a:p>
                <a:pPr lvl="0"/>
                <a:r>
                  <a:rPr/>
                  <a:t>上述策略已被 </a:t>
                </a:r>
                <a:r>
                  <a:rPr b="1"/>
                  <a:t>JUNO 合作组采纳并应用于首篇物理结果论文</a:t>
                </a:r>
              </a:p>
            </p:txBody>
          </p:sp>
        </mc:Choice>
      </mc:AlternateContent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第五章 Feldman–Cousins 方法详述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为什么需要 FC 方法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Asimov 数据假定观测 = 期望，无统计涨落</a:t>
                </a:r>
              </a:p>
              <a:p>
                <a:pPr lvl="0"/>
                <a:r>
                  <a:rPr/>
                  <a:t>真实数据：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轮廓出现多个局部极小值</a:t>
                </a:r>
              </a:p>
              <a:p>
                <a:pPr lvl="0"/>
                <a:r>
                  <a:rPr/>
                  <a:t>直接套用 Wilks → 可能产生不连续置信区间，覆盖率失效</a:t>
                </a:r>
              </a:p>
            </p:txBody>
          </p:sp>
        </mc:Choice>
      </mc:AlternateContent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物理根源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振荡相位简并</a:t>
                </a:r>
              </a:p>
              <a:p>
                <a:pPr lvl="0"/>
                <a:r>
                  <a:rPr/>
                  <a:t>反应堆中微子能谱精细结构 → 伪局部极小</a:t>
                </a:r>
              </a:p>
              <a:p>
                <a:pPr lvl="0"/>
                <a:r>
                  <a:rPr/>
                  <a:t>低统计量下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偏离卡方分布</a:t>
                </a:r>
              </a:p>
            </p:txBody>
          </p:sp>
        </mc:Choice>
      </mc:AlternateContent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第五章 Feldman–Cousins 方法详述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FC 方法核心思想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检验统计量：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Sup>
                        <m:e>
                          <m:r>
                            <m:t>χ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χ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 </m:t>
                      </m:r>
                      <m:sSub>
                        <m:e>
                          <m:r>
                            <m:t>δ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m:t>η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t>χ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δ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m:t>η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经验分布给出参数相关临界值：</a:t>
                </a:r>
              </a:p>
              <a:p>
                <a:pPr lvl="0" indent="0" marL="0">
                  <a:buNone/>
                </a:pPr>
                <a:r>
                  <a:rPr/>
                  <a:t>$$\int_0^{\Delta\chi^{2,\alpha}_{\rm crit}(\delta_i)} P(\Delta\chi^2|\delta_i)\,d(\Delta\chi^2) = 1-\alpha$$</a:t>
                </a:r>
              </a:p>
              <a:p>
                <a:pPr lvl="0"/>
                <a:r>
                  <a:rPr/>
                  <a:t>在物理边界、非二次似然面、多极小情形下严格保证频率学覆盖率</a:t>
                </a:r>
              </a:p>
              <a:p>
                <a:pPr lvl="0"/>
                <a:r>
                  <a:rPr/>
                  <a:t>流程：参数空间网格 → 伪实验生成 → 统计量计算 → 临界值提取</a:t>
                </a:r>
              </a:p>
            </p:txBody>
          </p:sp>
        </mc:Choice>
      </mc:AlternateContent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第五章 Feldman–Cousins 方法详述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太阳区参数二维 FC 检验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、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/>
                  <a:t> 之间皮尔逊相关系数 ~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0.29</m:t>
                    </m:r>
                  </m:oMath>
                </a14:m>
                <a:r>
                  <a:rPr/>
                  <a:t> → 必须二维构造</a:t>
                </a:r>
              </a:p>
              <a:p>
                <a:pPr lvl="0"/>
                <a:r>
                  <a:rPr/>
                  <a:t>结果：经验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分布与 </a:t>
                </a:r>
                <a14:m>
                  <m:oMath xmlns:m="http://schemas.openxmlformats.org/officeDocument/2006/math"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ndf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高度一致</a:t>
                </a:r>
              </a:p>
              <a:p>
                <a:pPr lvl="0"/>
                <a:r>
                  <a:rPr/>
                  <a:t>1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临界值：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r>
                      <m:t>2.30</m:t>
                    </m:r>
                  </m:oMath>
                </a14:m>
                <a:r>
                  <a:rPr/>
                  <a:t>（与 Wilks 一致）</a:t>
                </a:r>
              </a:p>
            </p:txBody>
          </p:sp>
        </mc:Choice>
      </mc:AlternateContent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太阳区参数 </a:t>
            </a:r>
            <a:r>
              <a:rPr b="1"/>
              <a:t>Wilks 近似成立</a:t>
            </a:r>
          </a:p>
          <a:p>
            <a:pPr lvl="0"/>
            <a:r>
              <a:rPr/>
              <a:t>可安全使用渐近阈值构造置信域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第五章 Feldman–Cousins 方法详述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一维 FC 检验（50 天，JUNO+DYB 联合）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固定反应堆模型</a:t>
                </a:r>
                <a:r>
                  <a:rPr/>
                  <a:t>：</a:t>
                </a:r>
                <a:r>
                  <a:rPr/>
                  <a:t>$\Delta\chi^2_{\rm crit, fixed} = 1.5379$</a:t>
                </a:r>
              </a:p>
              <a:p>
                <a:pPr lvl="0"/>
                <a:r>
                  <a:rPr b="1"/>
                  <a:t>扰动反应堆模型</a:t>
                </a:r>
                <a:r>
                  <a:rPr/>
                  <a:t>：</a:t>
                </a:r>
                <a:r>
                  <a:rPr/>
                  <a:t>$\Delta\chi^2_{\rm crit, sampled} = 1.5724$</a:t>
                </a:r>
              </a:p>
              <a:p>
                <a:pPr lvl="0"/>
                <a:r>
                  <a:rPr/>
                  <a:t>显著高于 Wilks 期望值 </a:t>
                </a:r>
                <a14:m>
                  <m:oMath xmlns:m="http://schemas.openxmlformats.org/officeDocument/2006/math">
                    <m:r>
                      <m:t>1.0</m:t>
                    </m:r>
                  </m:oMath>
                </a14:m>
              </a:p>
            </p:txBody>
          </p:sp>
        </mc:Choice>
      </mc:AlternateContent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物理结论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一维相对精度：</a:t>
                </a:r>
                <a:r>
                  <a:rPr b="1"/>
                  <a:t>~1.4%</a:t>
                </a:r>
                <a:r>
                  <a:rPr/>
                  <a:t>（50 天曝光）</a:t>
                </a:r>
              </a:p>
              <a:p>
                <a:pPr lvl="0"/>
                <a:r>
                  <a:rPr/>
                  <a:t>反应堆模型不确定度对临界值影响极小（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）</a:t>
                </a:r>
              </a:p>
              <a:p>
                <a:pPr lvl="0"/>
                <a:r>
                  <a:rPr/>
                  <a:t>约 </a:t>
                </a:r>
                <a:r>
                  <a:rPr b="1"/>
                  <a:t>8%</a:t>
                </a:r>
                <a:r>
                  <a:rPr/>
                  <a:t> 伪实验产生不相交置信区间 → 必须用 FC</a:t>
                </a:r>
              </a:p>
            </p:txBody>
          </p:sp>
        </mc:Choice>
      </mc:AlternateContent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第五章 Feldman–Cousins 方法详述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FC 临界值对扫描区间的依赖性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30 天单 JUNO 数据：宽扫描 </a:t>
            </a:r>
            <a:r>
              <a:rPr/>
              <a:t>$\Delta\chi^2_{\rm crit} = 6.58$</a:t>
            </a:r>
            <a:r>
              <a:rPr/>
              <a:t>，窄扫描 </a:t>
            </a:r>
            <a:r>
              <a:rPr/>
              <a:t>$\Delta\chi^2_{\rm crit} = 4.89$</a:t>
            </a:r>
          </a:p>
          <a:p>
            <a:pPr lvl="0"/>
            <a:r>
              <a:rPr/>
              <a:t>临界值随扫描区间显著变化：扫描过窄 → 漏掉替代全局极小 → 覆盖不足</a:t>
            </a:r>
          </a:p>
          <a:p>
            <a:pPr lvl="0"/>
            <a:r>
              <a:rPr b="1"/>
              <a:t>实践要求</a:t>
            </a:r>
            <a:r>
              <a:rPr/>
              <a:t>：宽扫描区间 + 多起点初值，避免局部极小陷阱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第五章 本章小结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主要结论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Asimov 灵敏度在低统计量下不可靠</a:t>
                </a:r>
                <a:r>
                  <a:rPr/>
                  <a:t>：无法再现真实数据的多重局部极小与置信区间不连续现象</a:t>
                </a:r>
              </a:p>
              <a:p>
                <a:pPr lvl="0"/>
                <a:r>
                  <a:rPr b="1"/>
                  <a:t>太阳区参数（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21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 b="1"/>
                  <a:t>、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12</m:t>
                        </m:r>
                      </m:sub>
                    </m:sSub>
                  </m:oMath>
                </a14:m>
                <a:r>
                  <a:rPr b="1"/>
                  <a:t>）二维 FC</a:t>
                </a:r>
                <a:r>
                  <a:rPr/>
                  <a:t>：经验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分布与 </a:t>
                </a:r>
                <a14:m>
                  <m:oMath xmlns:m="http://schemas.openxmlformats.org/officeDocument/2006/math">
                    <m:sSup>
                      <m:e>
                        <m:r>
                          <m:t>χ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ndf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一致，</a:t>
                </a:r>
                <a:r>
                  <a:rPr b="1"/>
                  <a:t>Wilks 近似成立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 b="1"/>
                  <a:t> 一维 FC（50 天 JUNO+DYB 联合）</a:t>
                </a:r>
                <a:r>
                  <a:rPr/>
                  <a:t>：</a:t>
                </a:r>
              </a:p>
              <a:p>
                <a:pPr lvl="1"/>
                <a:r>
                  <a:rPr/>
                  <a:t>经验 1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临界值 ~1.57，</a:t>
                </a:r>
                <a:r>
                  <a:rPr b="1"/>
                  <a:t>显著高于</a:t>
                </a:r>
                <a:r>
                  <a:rPr/>
                  <a:t> Wilks 的 1.0</a:t>
                </a:r>
              </a:p>
              <a:p>
                <a:pPr lvl="1"/>
                <a:r>
                  <a:rPr/>
                  <a:t>测量精度 </a:t>
                </a:r>
                <a:r>
                  <a:rPr b="1"/>
                  <a:t>~1.4%</a:t>
                </a:r>
                <a:r>
                  <a:rPr/>
                  <a:t>（略低于全球拟合 ~1.1%）</a:t>
                </a:r>
              </a:p>
              <a:p>
                <a:pPr lvl="1"/>
                <a:r>
                  <a:rPr/>
                  <a:t>~8% 伪实验出现不相交置信区间 → </a:t>
                </a:r>
                <a:r>
                  <a:rPr b="1"/>
                  <a:t>必须采用 FC</a:t>
                </a:r>
              </a:p>
              <a:p>
                <a:pPr lvl="0"/>
                <a:r>
                  <a:rPr/>
                  <a:t>反应堆模型不确定度对 FC 临界值影响极小（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）</a:t>
                </a:r>
              </a:p>
              <a:p>
                <a:pPr lvl="0"/>
                <a:r>
                  <a:rPr b="1"/>
                  <a:t>建议被 JUNO 合作组采纳</a:t>
                </a:r>
                <a:r>
                  <a:rPr/>
                  <a:t>：首篇物理结果暂不直接发布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精测值</a:t>
                </a:r>
              </a:p>
              <a:p>
                <a:pPr lvl="0"/>
                <a:r>
                  <a:rPr/>
                  <a:t>FC 临界值对扫描区间敏感 → 实践中需宽扫描 + 多起点</a:t>
                </a:r>
              </a:p>
            </p:txBody>
          </p:sp>
        </mc:Choice>
      </mc:AlternateContent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第六章 总结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三大方法学贡献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高性能张量化前向折叠拟合框架</a:t>
                </a:r>
                <a:r>
                  <a:rPr/>
                  <a:t>（第三章）</a:t>
                </a:r>
              </a:p>
              <a:p>
                <a:pPr lvl="1"/>
                <a:r>
                  <a:rPr/>
                  <a:t>缓存 + 稀疏 + 分块 → ~7× 加速，相对误差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</m:sup>
                    </m:sSup>
                  </m:oMath>
                </a14:m>
              </a:p>
              <a:p>
                <a:pPr lvl="1"/>
                <a:r>
                  <a:rPr/>
                  <a:t>已发表 EPJC (2025)，被合作组采纳为基础分析工具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重建能谱分 bin 与反应堆能谱分段策略</a:t>
                </a:r>
                <a:r>
                  <a:rPr/>
                  <a:t>（第四章）</a:t>
                </a:r>
              </a:p>
              <a:p>
                <a:pPr lvl="1"/>
                <a:r>
                  <a:rPr/>
                  <a:t>重建能谱：bin 宽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</m:oMath>
                </a14:m>
                <a:r>
                  <a:rPr/>
                  <a:t> 100 keV</a:t>
                </a:r>
              </a:p>
              <a:p>
                <a:pPr lvl="1"/>
                <a:r>
                  <a:rPr/>
                  <a:t>反应堆能谱：segment 宽 ~300 keV，模型依赖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</a:p>
              <a:p>
                <a:pPr lvl="1"/>
                <a:r>
                  <a:rPr/>
                  <a:t>已应用于 JUNO 首篇物理结果论文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Feldman–Cousins 覆盖性检验</a:t>
                </a:r>
                <a:r>
                  <a:rPr/>
                  <a:t>（第五章）</a:t>
                </a:r>
              </a:p>
              <a:p>
                <a:pPr lvl="1"/>
                <a:r>
                  <a:rPr/>
                  <a:t>太阳区参数：Wilks 适用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：FC 必需，临界值 ~1.57，精度 ~1.4%（50 天）</a:t>
                </a:r>
              </a:p>
            </p:txBody>
          </p:sp>
        </mc:Choice>
      </mc:AlternateContent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第六章 展望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后续可推进的研究方向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JUNO 持续运行</a:t>
                </a:r>
                <a:r>
                  <a:rPr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Sup>
                      <m:e>
                        <m:r>
                          <m:t>m</m:t>
                        </m:r>
                      </m:e>
                      <m:sub>
                        <m:r>
                          <m:t>31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非渐近统计的演化监测</a:t>
                </a:r>
              </a:p>
              <a:p>
                <a:pPr lvl="0"/>
                <a:r>
                  <a:rPr b="1"/>
                  <a:t>JUNO–TAO 联合分析</a:t>
                </a:r>
              </a:p>
              <a:p>
                <a:pPr lvl="1"/>
                <a:r>
                  <a:rPr/>
                  <a:t>张量链扩展为”反应堆 → TAO → JUNO”</a:t>
                </a:r>
              </a:p>
              <a:p>
                <a:pPr lvl="1"/>
                <a:r>
                  <a:rPr/>
                  <a:t>重做最优 segment 宽度（TAO 分辨率更优 → 段宽更窄）</a:t>
                </a:r>
              </a:p>
              <a:p>
                <a:pPr lvl="1"/>
                <a:r>
                  <a:rPr/>
                  <a:t>FC 检验：评估近点锚定能否回归 Wilks 渐近极限</a:t>
                </a:r>
              </a:p>
              <a:p>
                <a:pPr lvl="0"/>
                <a:r>
                  <a:rPr b="1"/>
                  <a:t>国际前沿应用</a:t>
                </a:r>
              </a:p>
              <a:p>
                <a:pPr lvl="1"/>
                <a:r>
                  <a:rPr/>
                  <a:t>中微子质量序判定（FC + Toy-MC）</a:t>
                </a:r>
              </a:p>
              <a:p>
                <a:pPr lvl="1"/>
                <a14:m>
                  <m:oMath xmlns:m="http://schemas.openxmlformats.org/officeDocument/2006/math">
                    <m:r>
                      <m:t>0</m:t>
                    </m:r>
                    <m:r>
                      <m:t>ν</m:t>
                    </m:r>
                    <m:r>
                      <m:t>β</m:t>
                    </m:r>
                    <m:r>
                      <m:t>β</m:t>
                    </m:r>
                  </m:oMath>
                </a14:m>
                <a:r>
                  <a:rPr/>
                  <a:t> 实验解读（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β</m:t>
                        </m:r>
                        <m:r>
                          <m:t>β</m:t>
                        </m:r>
                      </m:sub>
                    </m:sSub>
                  </m:oMath>
                </a14:m>
                <a:r>
                  <a:rPr/>
                  <a:t> 允许带）</a:t>
                </a:r>
              </a:p>
              <a:p>
                <a:pPr lvl="1"/>
                <a:r>
                  <a:rPr/>
                  <a:t>加速器–反应堆联合 CP 破坏测量（DUNE / Hyper-K + JUNO）</a:t>
                </a:r>
              </a:p>
            </p:txBody>
          </p:sp>
        </mc:Choice>
      </mc:AlternateContent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致谢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感谢导师悉心指导</a:t>
            </a:r>
          </a:p>
          <a:p>
            <a:pPr lvl="0"/>
            <a:r>
              <a:rPr/>
              <a:t>感谢 JUNO 合作组的支持与讨论</a:t>
            </a:r>
          </a:p>
          <a:p>
            <a:pPr lvl="0"/>
            <a:r>
              <a:rPr/>
              <a:t>感谢实验室同事与同学的帮助</a:t>
            </a:r>
          </a:p>
          <a:p>
            <a:pPr lvl="0"/>
            <a:r>
              <a:rPr/>
              <a:t>感谢答辩委员会专家的评议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谢谢聆听！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敬请批评指正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2026-04-28T01:54:03Z</dcterms:created>
  <dcterms:modified xsi:type="dcterms:W3CDTF">2026-04-28T01:54:03Z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